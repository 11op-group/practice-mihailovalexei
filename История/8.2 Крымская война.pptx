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140" autoAdjust="0"/>
  </p:normalViewPr>
  <p:slideViewPr>
    <p:cSldViewPr snapToGrid="0">
      <p:cViewPr varScale="1">
        <p:scale>
          <a:sx n="66" d="100"/>
          <a:sy n="66" d="100"/>
        </p:scale>
        <p:origin x="87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07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03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32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96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770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21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74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4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61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11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64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876F8-65F5-4C32-A1CA-8246DEB3CDCF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9D7F-0DE0-43D3-8952-2D49C6181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575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Крымская война</a:t>
            </a:r>
            <a:br>
              <a:rPr lang="ru-RU" dirty="0" smtClean="0"/>
            </a:br>
            <a:r>
              <a:rPr lang="ru-RU" dirty="0" smtClean="0"/>
              <a:t>(1853 - 1856 годы)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/>
              <a:t> Эпоха Николая </a:t>
            </a:r>
            <a:r>
              <a:rPr lang="en-US" b="1" dirty="0"/>
              <a:t>I</a:t>
            </a:r>
            <a:r>
              <a:rPr lang="ru-RU" b="1" dirty="0"/>
              <a:t> началась </a:t>
            </a:r>
            <a:r>
              <a:rPr lang="ru-RU" b="1" dirty="0" smtClean="0"/>
              <a:t>с восстания  </a:t>
            </a:r>
            <a:r>
              <a:rPr lang="ru-RU" b="1" dirty="0"/>
              <a:t>декабристов, а закончилась поражением  России в Крымской </a:t>
            </a:r>
            <a:r>
              <a:rPr lang="ru-RU" b="1" dirty="0" smtClean="0"/>
              <a:t>войне…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891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 эпохе Николая </a:t>
            </a:r>
            <a:r>
              <a:rPr lang="en-US" dirty="0" smtClean="0"/>
              <a:t>I</a:t>
            </a:r>
            <a:r>
              <a:rPr lang="ru-RU" dirty="0" smtClean="0"/>
              <a:t> </a:t>
            </a:r>
            <a:r>
              <a:rPr lang="ru-RU" dirty="0"/>
              <a:t>(1825 -1855 </a:t>
            </a:r>
            <a:r>
              <a:rPr lang="ru-RU" dirty="0" smtClean="0"/>
              <a:t>годы)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9289" y="1825625"/>
            <a:ext cx="4912911" cy="3298059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При Николае </a:t>
            </a:r>
            <a:r>
              <a:rPr lang="en-US" dirty="0" smtClean="0"/>
              <a:t>I</a:t>
            </a:r>
            <a:r>
              <a:rPr lang="ru-RU" dirty="0" smtClean="0"/>
              <a:t> укрепилась финансовая система государства и улучшилось положение крестьян.</a:t>
            </a:r>
          </a:p>
          <a:p>
            <a:r>
              <a:rPr lang="ru-RU" dirty="0" smtClean="0"/>
              <a:t>Россия вступила на путь индустриального развития.</a:t>
            </a:r>
          </a:p>
          <a:p>
            <a:r>
              <a:rPr lang="ru-RU" dirty="0" smtClean="0"/>
              <a:t>Были построены первые железные дороги в нашей стране.</a:t>
            </a:r>
          </a:p>
          <a:p>
            <a:r>
              <a:rPr lang="ru-RU" dirty="0"/>
              <a:t>Россия стала производить собственные промышленные </a:t>
            </a:r>
            <a:r>
              <a:rPr lang="ru-RU" dirty="0" smtClean="0"/>
              <a:t>товары.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59289" y="5552655"/>
            <a:ext cx="4912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Поезд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Царскосельской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железной дороги». Карл </a:t>
            </a:r>
            <a:r>
              <a:rPr lang="ru-RU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Беггров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832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Культурные моменты эпохи </a:t>
            </a:r>
            <a:r>
              <a:rPr lang="ru-RU" b="1" dirty="0"/>
              <a:t>Николая </a:t>
            </a:r>
            <a:r>
              <a:rPr lang="en-US" b="1" dirty="0"/>
              <a:t>I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В эпоху</a:t>
            </a:r>
            <a:r>
              <a:rPr lang="ru-RU" dirty="0"/>
              <a:t> Николая </a:t>
            </a:r>
            <a:r>
              <a:rPr lang="en-US" dirty="0"/>
              <a:t>I</a:t>
            </a:r>
            <a:r>
              <a:rPr lang="ru-RU" dirty="0" smtClean="0"/>
              <a:t> сформировалась русская классика в литературе, музыке, живописи и архитектуре…</a:t>
            </a:r>
          </a:p>
          <a:p>
            <a:r>
              <a:rPr lang="ru-RU" dirty="0" smtClean="0"/>
              <a:t>Были построены здания Карла Росси…</a:t>
            </a:r>
          </a:p>
          <a:p>
            <a:r>
              <a:rPr lang="ru-RU" dirty="0" smtClean="0"/>
              <a:t>В честь победы над Наполеоном в Петербурге была установлена Александровская колонна, в Москве - храм Христа Спасителя.</a:t>
            </a:r>
          </a:p>
          <a:p>
            <a:r>
              <a:rPr lang="ru-RU" dirty="0"/>
              <a:t>Новый Эрмитаж </a:t>
            </a:r>
            <a:r>
              <a:rPr lang="ru-RU" dirty="0" smtClean="0"/>
              <a:t>стал </a:t>
            </a:r>
            <a:r>
              <a:rPr lang="ru-RU" dirty="0"/>
              <a:t>музеем для посещения </a:t>
            </a:r>
            <a:r>
              <a:rPr lang="ru-RU" dirty="0" smtClean="0"/>
              <a:t>публики.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066971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Александринский театр. Карл Росси.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88458"/>
            <a:ext cx="5334000" cy="382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Внешняя </a:t>
            </a:r>
            <a:r>
              <a:rPr lang="ru-RU" dirty="0" smtClean="0"/>
              <a:t>политика</a:t>
            </a:r>
            <a:r>
              <a:rPr lang="ru-RU" i="1" dirty="0"/>
              <a:t> </a:t>
            </a:r>
            <a:r>
              <a:rPr lang="ru-RU" dirty="0" smtClean="0"/>
              <a:t>николаевской эпохи</a:t>
            </a:r>
            <a:endParaRPr lang="ru-RU" dirty="0"/>
          </a:p>
        </p:txBody>
      </p:sp>
      <p:pic>
        <p:nvPicPr>
          <p:cNvPr id="2" name="Объект 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67466" y="1825625"/>
            <a:ext cx="3280306" cy="3833859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Во внешней политике преобладал «Восточный вопрос». 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Россия стремилась  к укреплению своего влияния в Закавказье: </a:t>
            </a:r>
          </a:p>
          <a:p>
            <a:r>
              <a:rPr lang="ru-RU" dirty="0"/>
              <a:t>- продолжалась война на Кавказе (1817 – 1864 гг.), которая при Николае </a:t>
            </a:r>
            <a:r>
              <a:rPr lang="en-US" dirty="0"/>
              <a:t>I</a:t>
            </a:r>
            <a:r>
              <a:rPr lang="ru-RU" dirty="0"/>
              <a:t> носила характер газавата – религиозной войны. Эта война переплелась с персидской войной.</a:t>
            </a:r>
          </a:p>
          <a:p>
            <a:r>
              <a:rPr lang="ru-RU" dirty="0"/>
              <a:t>-  Персия (Иран) напала на Россию в надежде отвоевать мусульманское Закавказье. В результате войны с Персией  (1826 – 1828 гг.) в состав Российской империи вошла Восточная Армения.  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5994401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А.С. Грибоедов – дипломат, погибший в русском посольстве в Тегеране в 1829 году.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6240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Конфликты с Османской империей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Россия продолжала  конфликтовать с  Османской империей  (Турцией), защищая православные народы Балкан, находящиеся под властью Турции и отстаивая возможность свободной торговли через проливы Босфор и </a:t>
            </a:r>
            <a:r>
              <a:rPr lang="ru-RU" dirty="0" smtClean="0"/>
              <a:t>Дарданеллы.</a:t>
            </a:r>
            <a:endParaRPr lang="ru-RU" dirty="0"/>
          </a:p>
          <a:p>
            <a:r>
              <a:rPr lang="ru-RU" dirty="0"/>
              <a:t>В результате </a:t>
            </a:r>
            <a:r>
              <a:rPr lang="ru-RU" dirty="0" smtClean="0"/>
              <a:t>русско-турецкой войны 1828 </a:t>
            </a:r>
            <a:r>
              <a:rPr lang="ru-RU" dirty="0"/>
              <a:t>– 1829 </a:t>
            </a:r>
            <a:r>
              <a:rPr lang="ru-RU" dirty="0" smtClean="0"/>
              <a:t>годов </a:t>
            </a:r>
            <a:r>
              <a:rPr lang="ru-RU" dirty="0"/>
              <a:t>получили самостоятельность   Молдавия, Сербия и Греция.</a:t>
            </a:r>
          </a:p>
          <a:p>
            <a:endParaRPr lang="ru-RU" dirty="0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8194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86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Крымская война (</a:t>
            </a:r>
            <a:r>
              <a:rPr lang="ru-RU" dirty="0"/>
              <a:t>1853 – 1856 </a:t>
            </a:r>
            <a:r>
              <a:rPr lang="ru-RU" dirty="0" smtClean="0"/>
              <a:t>годы)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40086" y="1825624"/>
            <a:ext cx="3335567" cy="4061053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Вторая война с Турцией  во время правления Николая Павловича вошла в историю как </a:t>
            </a:r>
            <a:r>
              <a:rPr lang="ru-RU" b="1" dirty="0"/>
              <a:t>Крымская </a:t>
            </a:r>
            <a:r>
              <a:rPr lang="ru-RU" b="1" dirty="0" smtClean="0"/>
              <a:t>война.</a:t>
            </a:r>
          </a:p>
          <a:p>
            <a:r>
              <a:rPr lang="ru-RU" dirty="0" smtClean="0"/>
              <a:t>Предисловием к войне стал дипломатический конфликт между Россией и Турцией, когда турецкий султан забрал ключи от  церкви  Рождества  Христова в Вифлееме</a:t>
            </a:r>
            <a:r>
              <a:rPr lang="ru-RU" smtClean="0"/>
              <a:t>, находящимся </a:t>
            </a:r>
            <a:r>
              <a:rPr lang="ru-RU" dirty="0" smtClean="0"/>
              <a:t>под протекторатом Турции,  у православного духовенства  и передал  их католическому духовенству по требованию Франции.</a:t>
            </a:r>
          </a:p>
          <a:p>
            <a:r>
              <a:rPr lang="ru-RU" dirty="0" smtClean="0"/>
              <a:t>Турция</a:t>
            </a:r>
            <a:r>
              <a:rPr lang="ru-RU" dirty="0"/>
              <a:t>, ощущая поддержку ведущих европейских стран, объявила России войну.</a:t>
            </a: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176963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Николай </a:t>
            </a:r>
            <a:r>
              <a:rPr lang="en-US" dirty="0" smtClean="0"/>
              <a:t>I</a:t>
            </a:r>
            <a:r>
              <a:rPr lang="ru-RU" dirty="0" smtClean="0"/>
              <a:t>, император всероссийский. </a:t>
            </a:r>
            <a:r>
              <a:rPr lang="ru-RU" dirty="0" err="1" smtClean="0"/>
              <a:t>Ботман</a:t>
            </a:r>
            <a:r>
              <a:rPr lang="ru-RU" dirty="0" smtClean="0"/>
              <a:t> Е.И.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68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Начало Крымской войны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64333"/>
            <a:ext cx="5181600" cy="3273921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Война началась с поражения  Турции в </a:t>
            </a:r>
            <a:r>
              <a:rPr lang="ru-RU" dirty="0" err="1"/>
              <a:t>Синопской</a:t>
            </a:r>
            <a:r>
              <a:rPr lang="ru-RU" dirty="0"/>
              <a:t>  бухте  осенью  1853 года.</a:t>
            </a:r>
          </a:p>
          <a:p>
            <a:r>
              <a:rPr lang="ru-RU" dirty="0" smtClean="0"/>
              <a:t>Через </a:t>
            </a:r>
            <a:r>
              <a:rPr lang="ru-RU" dirty="0"/>
              <a:t>несколько </a:t>
            </a:r>
            <a:r>
              <a:rPr lang="ru-RU" dirty="0" smtClean="0"/>
              <a:t>месяцев, в 1854 году  в войну на стороне Турции </a:t>
            </a:r>
            <a:r>
              <a:rPr lang="ru-RU" dirty="0"/>
              <a:t>вступили Великобритания и Франция, в 1855 году -  Сардинское королевство (часть Италии). Враждебную позицию по отношению к нашей стране  заняли Австрия и Пруссия.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037943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«</a:t>
            </a:r>
            <a:r>
              <a:rPr lang="ru-RU" dirty="0" err="1" smtClean="0"/>
              <a:t>Синопский</a:t>
            </a:r>
            <a:r>
              <a:rPr lang="ru-RU" dirty="0" smtClean="0"/>
              <a:t> бой». И.К. Айвазовский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2376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Позиция ведущих европейских стран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45029" y="2017007"/>
            <a:ext cx="4510314" cy="3534959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Европейские страны не желали укрепления  России на Балканах и появления ее в Средиземном море. Они надеялись ослабить Российскую империю и отсечь ее приграничные земли, включая Кавказ.</a:t>
            </a:r>
          </a:p>
          <a:p>
            <a:pPr marL="0" indent="0">
              <a:buNone/>
            </a:pPr>
            <a:r>
              <a:rPr lang="ru-RU" dirty="0"/>
              <a:t> Для Николая </a:t>
            </a:r>
            <a:r>
              <a:rPr lang="en-US" dirty="0"/>
              <a:t>I</a:t>
            </a:r>
            <a:r>
              <a:rPr lang="ru-RU" dirty="0"/>
              <a:t> позиция западных стран явилась неожиданностью, тем </a:t>
            </a:r>
            <a:r>
              <a:rPr lang="ru-RU" dirty="0" smtClean="0"/>
              <a:t>более, </a:t>
            </a:r>
            <a:r>
              <a:rPr lang="ru-RU" dirty="0"/>
              <a:t>что  в предыдущей войне с Турцией Великобритания и Франция были на его стороне, защищая интересы христианских стран. Австрия  была обязана Николаю за оказанную помощь в подавлении венгерского восстания.</a:t>
            </a: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838200" y="5878285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«Бомбардирование Соловецкого монастыря двумя Английскими пароходами…» </a:t>
            </a:r>
            <a:r>
              <a:rPr lang="ru-RU" dirty="0" err="1" smtClean="0"/>
              <a:t>Мюнстер</a:t>
            </a:r>
            <a:r>
              <a:rPr lang="ru-RU" dirty="0" smtClean="0"/>
              <a:t> А.Э.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9144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Ход войны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57828" y="1690688"/>
            <a:ext cx="2781498" cy="3709824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Военные действия Крымской войны  </a:t>
            </a:r>
            <a:r>
              <a:rPr lang="ru-RU" dirty="0" smtClean="0"/>
              <a:t>шли по </a:t>
            </a:r>
            <a:r>
              <a:rPr lang="ru-RU" dirty="0"/>
              <a:t>периметру российских границ, даже,  у берегов Камчатки, но основные сражения разворачивались в Крыму.</a:t>
            </a:r>
          </a:p>
          <a:p>
            <a:pPr marL="0" indent="0">
              <a:buNone/>
            </a:pPr>
            <a:r>
              <a:rPr lang="ru-RU" dirty="0"/>
              <a:t>Осенью 1854 года, после сражения на реке </a:t>
            </a:r>
            <a:r>
              <a:rPr lang="ru-RU" dirty="0" err="1"/>
              <a:t>Альме</a:t>
            </a:r>
            <a:r>
              <a:rPr lang="ru-RU" dirty="0"/>
              <a:t>,  вражеские   войска с суши подошли  к Севастополю – базе Черноморского флота. Чтобы не пропустить врага с моря, наши матросы затопили старые  парусники в Севастопольской бухте, предварительно сняв с них пушки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Тем </a:t>
            </a:r>
            <a:r>
              <a:rPr lang="ru-RU" dirty="0"/>
              <a:t>не менее, после 350 дней обороны Севастополь был сдан врагу. В этой войне погибли такие талантливые полководцы как Павел Степанович Нахимов, Владимир Иванович  Истомин, Владимир Алексеевич  Корнилов. Крымская война была последней войной парусного флота.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807631"/>
            <a:ext cx="4982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Памятник затопленным кораблям в Севастопольской бухте. А.И. </a:t>
            </a:r>
            <a:r>
              <a:rPr lang="ru-RU" dirty="0" err="1" smtClean="0"/>
              <a:t>Адамсон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8394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Причины поражения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52500" y="1933462"/>
            <a:ext cx="5143500" cy="340995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Причинами </a:t>
            </a:r>
            <a:r>
              <a:rPr lang="ru-RU" b="1" dirty="0"/>
              <a:t>поражения России в этой войне явились преобладающие силы противника и техническая мощь европейских союзников Турции</a:t>
            </a:r>
            <a:r>
              <a:rPr lang="ru-RU" dirty="0"/>
              <a:t>:</a:t>
            </a:r>
          </a:p>
          <a:p>
            <a:r>
              <a:rPr lang="ru-RU" dirty="0"/>
              <a:t>- российский парусный флот против пароходов Великобритании и Франции;</a:t>
            </a:r>
          </a:p>
          <a:p>
            <a:r>
              <a:rPr lang="ru-RU" dirty="0"/>
              <a:t>- российские кремниевые ружья против нарезных винтовок;</a:t>
            </a:r>
          </a:p>
          <a:p>
            <a:r>
              <a:rPr lang="ru-RU" dirty="0"/>
              <a:t>- отсутствие хороших дорог из центральной России в Крым.</a:t>
            </a:r>
          </a:p>
          <a:p>
            <a:r>
              <a:rPr lang="ru-RU" dirty="0"/>
              <a:t>- часть российских войск была занята в Кавказской </a:t>
            </a:r>
            <a:r>
              <a:rPr lang="ru-RU" dirty="0" smtClean="0"/>
              <a:t>войне.</a:t>
            </a:r>
            <a:endParaRPr lang="ru-RU" dirty="0"/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1028700" y="5586186"/>
            <a:ext cx="5143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HMS </a:t>
            </a:r>
            <a:r>
              <a:rPr lang="en-US" i="1" dirty="0"/>
              <a:t>Duke of </a:t>
            </a:r>
            <a:r>
              <a:rPr lang="en-US" i="1" dirty="0" smtClean="0"/>
              <a:t>Wellington</a:t>
            </a:r>
            <a:r>
              <a:rPr lang="ru-RU" i="1" dirty="0" smtClean="0"/>
              <a:t>, </a:t>
            </a:r>
            <a:r>
              <a:rPr lang="ru-RU" dirty="0" smtClean="0"/>
              <a:t>британский линкор, одновременно парусник и проход времен Крымской войны.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035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Итоги войны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06171" y="1690688"/>
            <a:ext cx="2347327" cy="364716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Поражение </a:t>
            </a:r>
            <a:r>
              <a:rPr lang="ru-RU" dirty="0"/>
              <a:t>в войне для Николая </a:t>
            </a:r>
            <a:r>
              <a:rPr lang="en-US" dirty="0"/>
              <a:t>I</a:t>
            </a:r>
            <a:r>
              <a:rPr lang="ru-RU" dirty="0"/>
              <a:t> казалось катастрофическим и приблизило его смерть в 1855 году. Тем не менее, при </a:t>
            </a:r>
            <a:r>
              <a:rPr lang="ru-RU" dirty="0" smtClean="0"/>
              <a:t>подписании Парижского мирного трактата Александром </a:t>
            </a:r>
            <a:r>
              <a:rPr lang="en-US" dirty="0" smtClean="0"/>
              <a:t>II </a:t>
            </a:r>
            <a:r>
              <a:rPr lang="ru-RU" dirty="0" smtClean="0"/>
              <a:t>Севастополь </a:t>
            </a:r>
            <a:r>
              <a:rPr lang="ru-RU" dirty="0"/>
              <a:t>остался в составе нашей страны, а по прошествии времени, Россия восстановила </a:t>
            </a:r>
            <a:r>
              <a:rPr lang="ru-RU" dirty="0" smtClean="0"/>
              <a:t> </a:t>
            </a:r>
            <a:r>
              <a:rPr lang="ru-RU" dirty="0"/>
              <a:t>свое влияние на </a:t>
            </a:r>
            <a:r>
              <a:rPr lang="ru-RU" dirty="0" smtClean="0"/>
              <a:t>Балканах </a:t>
            </a:r>
            <a:r>
              <a:rPr lang="ru-RU" dirty="0"/>
              <a:t>и с помощью дипломатических усилий вернула право держать </a:t>
            </a:r>
            <a:r>
              <a:rPr lang="ru-RU" dirty="0" smtClean="0"/>
              <a:t>Черноморский </a:t>
            </a:r>
            <a:r>
              <a:rPr lang="ru-RU" dirty="0"/>
              <a:t>флот.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588000"/>
            <a:ext cx="5040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Портрет Александра </a:t>
            </a:r>
            <a:r>
              <a:rPr lang="en-US" dirty="0" smtClean="0"/>
              <a:t>II</a:t>
            </a:r>
            <a:r>
              <a:rPr lang="ru-RU" dirty="0" smtClean="0"/>
              <a:t>. Ф. Боткин.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838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760</Words>
  <Application>Microsoft Office PowerPoint</Application>
  <PresentationFormat>Широкоэкранный</PresentationFormat>
  <Paragraphs>51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Крымская война (1853 - 1856 годы)</vt:lpstr>
      <vt:lpstr>О эпохе Николая I (1825 -1855 годы)</vt:lpstr>
      <vt:lpstr>Культурные моменты эпохи Николая I</vt:lpstr>
      <vt:lpstr>Внешняя политика николаевской эпохи</vt:lpstr>
      <vt:lpstr>Конфликты с Османской империей</vt:lpstr>
      <vt:lpstr>Крымская война (1853 – 1856 годы)  </vt:lpstr>
      <vt:lpstr>Начало Крымской войны</vt:lpstr>
      <vt:lpstr>Позиция ведущих европейских стран</vt:lpstr>
      <vt:lpstr>Ход войны</vt:lpstr>
      <vt:lpstr>Причины поражения</vt:lpstr>
      <vt:lpstr>Итоги войны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Крымская война</dc:title>
  <dc:creator>Учетная запись Майкрософт</dc:creator>
  <cp:lastModifiedBy>Учетная запись Майкрософт</cp:lastModifiedBy>
  <cp:revision>51</cp:revision>
  <dcterms:created xsi:type="dcterms:W3CDTF">2024-08-22T23:14:27Z</dcterms:created>
  <dcterms:modified xsi:type="dcterms:W3CDTF">2024-08-25T20:49:52Z</dcterms:modified>
</cp:coreProperties>
</file>