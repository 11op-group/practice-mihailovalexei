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rod" initials="b" lastIdx="1" clrIdx="0">
    <p:extLst>
      <p:ext uri="{19B8F6BF-5375-455C-9EA6-DF929625EA0E}">
        <p15:presenceInfo xmlns:p15="http://schemas.microsoft.com/office/powerpoint/2012/main" userId="boro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3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33A2-4A91-40C2-AFAE-59747F93F9DE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4A1F-868C-4B02-9418-84B93DBA9D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2596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33A2-4A91-40C2-AFAE-59747F93F9DE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4A1F-868C-4B02-9418-84B93DBA9D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7812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33A2-4A91-40C2-AFAE-59747F93F9DE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4A1F-868C-4B02-9418-84B93DBA9D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9822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33A2-4A91-40C2-AFAE-59747F93F9DE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4A1F-868C-4B02-9418-84B93DBA9D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3008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33A2-4A91-40C2-AFAE-59747F93F9DE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4A1F-868C-4B02-9418-84B93DBA9D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3331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33A2-4A91-40C2-AFAE-59747F93F9DE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4A1F-868C-4B02-9418-84B93DBA9D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149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33A2-4A91-40C2-AFAE-59747F93F9DE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4A1F-868C-4B02-9418-84B93DBA9D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0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33A2-4A91-40C2-AFAE-59747F93F9DE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4A1F-868C-4B02-9418-84B93DBA9D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0701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33A2-4A91-40C2-AFAE-59747F93F9DE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4A1F-868C-4B02-9418-84B93DBA9D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327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33A2-4A91-40C2-AFAE-59747F93F9DE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4A1F-868C-4B02-9418-84B93DBA9D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5400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33A2-4A91-40C2-AFAE-59747F93F9DE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4A1F-868C-4B02-9418-84B93DBA9D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66037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33A2-4A91-40C2-AFAE-59747F93F9DE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4A1F-868C-4B02-9418-84B93DBA9DE1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89289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33A2-4A91-40C2-AFAE-59747F93F9DE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4A1F-868C-4B02-9418-84B93DBA9D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1576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33A2-4A91-40C2-AFAE-59747F93F9DE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4A1F-868C-4B02-9418-84B93DBA9D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92827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33A2-4A91-40C2-AFAE-59747F93F9DE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4A1F-868C-4B02-9418-84B93DBA9D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67694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33A2-4A91-40C2-AFAE-59747F93F9DE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4A1F-868C-4B02-9418-84B93DBA9D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77378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33A2-4A91-40C2-AFAE-59747F93F9DE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4A1F-868C-4B02-9418-84B93DBA9D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3015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7C33A2-4A91-40C2-AFAE-59747F93F9DE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3004A1F-868C-4B02-9418-84B93DBA9D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61622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562BBE5-6870-497B-9888-E40D3FD23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Усиление Москвы (</a:t>
            </a:r>
            <a:r>
              <a:rPr lang="en-US" dirty="0"/>
              <a:t>XIV</a:t>
            </a:r>
            <a:r>
              <a:rPr lang="ru-RU" dirty="0"/>
              <a:t> – </a:t>
            </a:r>
            <a:r>
              <a:rPr lang="en-US" dirty="0"/>
              <a:t>XV </a:t>
            </a:r>
            <a:r>
              <a:rPr lang="ru-RU" dirty="0"/>
              <a:t>веков)</a:t>
            </a:r>
            <a:br>
              <a:rPr lang="ru-RU" b="1" dirty="0"/>
            </a:br>
            <a:endParaRPr lang="ru-RU" dirty="0"/>
          </a:p>
        </p:txBody>
      </p:sp>
      <p:pic>
        <p:nvPicPr>
          <p:cNvPr id="10242" name="Picture 2" descr="https://upload.wikimedia.org/wikipedia/commons/thumb/1/1a/Moscow_Kremlin_under_Dmitry_Donskoj.jpg/500px-Moscow_Kremlin_under_Dmitry_Donskoj.jpg?utm_source=ru.wikipedia.org&amp;utm_campaign=parser&amp;utm_content=thumbnail">
            <a:extLst>
              <a:ext uri="{FF2B5EF4-FFF2-40B4-BE49-F238E27FC236}">
                <a16:creationId xmlns:a16="http://schemas.microsoft.com/office/drawing/2014/main" id="{AD0F73BA-6172-462E-B8D4-98F49A33E98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560" y="1580051"/>
            <a:ext cx="6448096" cy="3324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FEE567-EB93-46CE-BEB1-B189FA031733}"/>
              </a:ext>
            </a:extLst>
          </p:cNvPr>
          <p:cNvSpPr txBox="1"/>
          <p:nvPr/>
        </p:nvSpPr>
        <p:spPr>
          <a:xfrm>
            <a:off x="2569779" y="5060731"/>
            <a:ext cx="69368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Живописная реконструкция </a:t>
            </a:r>
            <a:r>
              <a:rPr lang="ru-RU" dirty="0" err="1"/>
              <a:t>МосковскогоКремля</a:t>
            </a:r>
            <a:r>
              <a:rPr lang="ru-RU" dirty="0"/>
              <a:t> при</a:t>
            </a:r>
          </a:p>
          <a:p>
            <a:pPr algn="ctr"/>
            <a:r>
              <a:rPr lang="ru-RU" dirty="0"/>
              <a:t> Дмитрии Донском </a:t>
            </a:r>
            <a:r>
              <a:rPr lang="ru-RU" dirty="0" err="1"/>
              <a:t>Апполинария</a:t>
            </a:r>
            <a:r>
              <a:rPr lang="ru-RU" dirty="0"/>
              <a:t> Васнецова</a:t>
            </a: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9204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C8E68E-7FFA-4267-93F2-FAA16AE8B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Русь в начале 14 века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4AC6C86-0F1D-419D-A15F-14A2FA9818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>
                <a:effectLst/>
              </a:rPr>
              <a:t>После первоначального нашествия монголо-татар древние города центральной и южной Руси лежали в руинах.</a:t>
            </a:r>
          </a:p>
          <a:p>
            <a:r>
              <a:rPr lang="ru-RU" dirty="0">
                <a:effectLst/>
              </a:rPr>
              <a:t>В начале 14 века, постепенно, стали возвышаться и расти два маленьких города на окраинах Владимирского княжества: Тверь и Москва.</a:t>
            </a:r>
          </a:p>
          <a:p>
            <a:r>
              <a:rPr lang="ru-RU" dirty="0">
                <a:effectLst/>
              </a:rPr>
              <a:t>Владимир оставался столицей Руси, но князья, получив владимирский ярлык, продолжали жить в своих уделах, изредка навещая опустевший после татарских погромов город.</a:t>
            </a:r>
          </a:p>
          <a:p>
            <a:r>
              <a:rPr lang="ru-RU" dirty="0">
                <a:effectLst/>
              </a:rPr>
              <a:t>Между московскими и тверскими князьями началась борьба за великокняжеский</a:t>
            </a:r>
          </a:p>
          <a:p>
            <a:pPr marL="36900" indent="0">
              <a:buNone/>
            </a:pPr>
            <a:r>
              <a:rPr lang="ru-RU" dirty="0">
                <a:effectLst/>
              </a:rPr>
              <a:t>     престол.</a:t>
            </a:r>
          </a:p>
          <a:p>
            <a:endParaRPr lang="ru-RU" dirty="0">
              <a:effectLst/>
            </a:endParaRPr>
          </a:p>
        </p:txBody>
      </p:sp>
      <p:pic>
        <p:nvPicPr>
          <p:cNvPr id="9218" name="Picture 2" descr="https://upload.wikimedia.org/wikipedia/commons/thumb/4/4d/Baskaks.jpg/250px-Baskaks.jpg?utm_source=ru.wikipedia.org&amp;utm_campaign=parser&amp;utm_content=thumbnail">
            <a:extLst>
              <a:ext uri="{FF2B5EF4-FFF2-40B4-BE49-F238E27FC236}">
                <a16:creationId xmlns:a16="http://schemas.microsoft.com/office/drawing/2014/main" id="{44A899E3-2F2F-4B29-B5E1-2F502DD4BCF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125" y="1732449"/>
            <a:ext cx="4755882" cy="3424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874A48-609E-4EC2-8B37-08C9DED5AE0C}"/>
              </a:ext>
            </a:extLst>
          </p:cNvPr>
          <p:cNvSpPr txBox="1"/>
          <p:nvPr/>
        </p:nvSpPr>
        <p:spPr>
          <a:xfrm>
            <a:off x="1150883" y="5297214"/>
            <a:ext cx="4713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«Басурмане» Сергей Иванов.</a:t>
            </a:r>
          </a:p>
        </p:txBody>
      </p:sp>
    </p:spTree>
    <p:extLst>
      <p:ext uri="{BB962C8B-B14F-4D97-AF65-F5344CB8AC3E}">
        <p14:creationId xmlns:p14="http://schemas.microsoft.com/office/powerpoint/2010/main" val="513330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B8057C-7139-4A2D-8166-3AC0A5BA4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Иван Калита </a:t>
            </a:r>
            <a:r>
              <a:rPr lang="ru-RU" dirty="0">
                <a:effectLst/>
              </a:rPr>
              <a:t>(1325 – 1340) 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32F15F-CA47-4502-9AE0-598B682C83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ru-RU" b="1" dirty="0">
                <a:effectLst/>
              </a:rPr>
              <a:t>Основы могущества Москвы заложил Иван Данилович Калита:</a:t>
            </a:r>
          </a:p>
          <a:p>
            <a:pPr lvl="0"/>
            <a:r>
              <a:rPr lang="ru-RU" b="1" dirty="0">
                <a:effectLst/>
              </a:rPr>
              <a:t>- </a:t>
            </a:r>
            <a:r>
              <a:rPr lang="ru-RU" dirty="0">
                <a:effectLst/>
              </a:rPr>
              <a:t>увеличил территорию Московского княжества покупкой городов (Галич, </a:t>
            </a:r>
            <a:r>
              <a:rPr lang="ru-RU" dirty="0" err="1">
                <a:effectLst/>
              </a:rPr>
              <a:t>Белоозеро</a:t>
            </a:r>
            <a:r>
              <a:rPr lang="ru-RU" dirty="0">
                <a:effectLst/>
              </a:rPr>
              <a:t>, Углич).</a:t>
            </a:r>
          </a:p>
          <a:p>
            <a:pPr lvl="0"/>
            <a:r>
              <a:rPr lang="ru-RU" dirty="0">
                <a:effectLst/>
              </a:rPr>
              <a:t>- Москва стала церковной столицей – сюда перенесли кафедру митрополита (Феогноста) из Киева.</a:t>
            </a:r>
          </a:p>
          <a:p>
            <a:pPr lvl="0"/>
            <a:r>
              <a:rPr lang="ru-RU" dirty="0">
                <a:effectLst/>
              </a:rPr>
              <a:t>- Калита добился разрешения самому собирать дань и отправлять в Орду, поэтому татары не вторгались в пределы Московского княжества 40 лет.</a:t>
            </a:r>
          </a:p>
          <a:p>
            <a:pPr lvl="0"/>
            <a:r>
              <a:rPr lang="ru-RU" dirty="0">
                <a:effectLst/>
              </a:rPr>
              <a:t>Москва отстроилась и укрепилась. Были построены пять каменных церквей. Вокруг города возвели дубовую стену. </a:t>
            </a:r>
          </a:p>
          <a:p>
            <a:endParaRPr lang="ru-RU" dirty="0"/>
          </a:p>
        </p:txBody>
      </p:sp>
      <p:pic>
        <p:nvPicPr>
          <p:cNvPr id="8194" name="Picture 2" descr="undefined">
            <a:extLst>
              <a:ext uri="{FF2B5EF4-FFF2-40B4-BE49-F238E27FC236}">
                <a16:creationId xmlns:a16="http://schemas.microsoft.com/office/drawing/2014/main" id="{A40E02A4-27E9-43D6-9230-C54127C76C5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883" y="1732449"/>
            <a:ext cx="4838226" cy="344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F4DC57-B055-4BF7-A9B2-003A38633701}"/>
              </a:ext>
            </a:extLst>
          </p:cNvPr>
          <p:cNvSpPr txBox="1"/>
          <p:nvPr/>
        </p:nvSpPr>
        <p:spPr>
          <a:xfrm>
            <a:off x="924444" y="5332085"/>
            <a:ext cx="50646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«Московский Кремль при Иване Калите» . </a:t>
            </a:r>
            <a:r>
              <a:rPr lang="ru-RU" dirty="0" err="1"/>
              <a:t>Апполинарий</a:t>
            </a:r>
            <a:r>
              <a:rPr lang="ru-RU" dirty="0"/>
              <a:t> Васнецов.</a:t>
            </a:r>
          </a:p>
        </p:txBody>
      </p:sp>
    </p:spTree>
    <p:extLst>
      <p:ext uri="{BB962C8B-B14F-4D97-AF65-F5344CB8AC3E}">
        <p14:creationId xmlns:p14="http://schemas.microsoft.com/office/powerpoint/2010/main" val="2626939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ECAC6A-F96D-4572-8715-834750D61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Дмитрий Донской (</a:t>
            </a:r>
            <a:r>
              <a:rPr lang="ru-RU" dirty="0">
                <a:effectLst/>
              </a:rPr>
              <a:t>1359 – 1389).</a:t>
            </a:r>
            <a:br>
              <a:rPr lang="ru-RU" dirty="0">
                <a:effectLst/>
              </a:rPr>
            </a:br>
            <a:endParaRPr lang="ru-RU" dirty="0"/>
          </a:p>
        </p:txBody>
      </p:sp>
      <p:pic>
        <p:nvPicPr>
          <p:cNvPr id="7170" name="Picture 2" descr="https://upload.wikimedia.org/wikipedia/commons/thumb/d/db/%D0%9A%D1%83%D0%BB%D0%B8%D0%BA%D0%BE%D0%B2%D0%BE_%D0%BF%D0%BE%D0%BB%D0%B5.jpg/330px-%D0%9A%D1%83%D0%BB%D0%B8%D0%BA%D0%BE%D0%B2%D0%BE_%D0%BF%D0%BE%D0%BB%D0%B5.jpg?utm_source=ru.wikipedia.org&amp;utm_campaign=parser&amp;utm_content=thumbnail">
            <a:extLst>
              <a:ext uri="{FF2B5EF4-FFF2-40B4-BE49-F238E27FC236}">
                <a16:creationId xmlns:a16="http://schemas.microsoft.com/office/drawing/2014/main" id="{595080F5-51E9-481C-B016-B8899BB22DE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8559" y="1990173"/>
            <a:ext cx="4161092" cy="2345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1BF8058B-05A6-45CE-A9D5-D6C7CCE2EC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b="1" dirty="0">
                <a:effectLst/>
              </a:rPr>
              <a:t>Следующим этапом укрепления Москвы стало правление</a:t>
            </a:r>
            <a:r>
              <a:rPr lang="ru-RU" dirty="0">
                <a:effectLst/>
              </a:rPr>
              <a:t> внука Ивана Калиты</a:t>
            </a:r>
            <a:r>
              <a:rPr lang="ru-RU" b="1" dirty="0">
                <a:effectLst/>
              </a:rPr>
              <a:t> Дмитрия Ивановича Донского:</a:t>
            </a:r>
            <a:endParaRPr lang="ru-RU" dirty="0">
              <a:effectLst/>
            </a:endParaRPr>
          </a:p>
          <a:p>
            <a:pPr lvl="0"/>
            <a:r>
              <a:rPr lang="ru-RU" dirty="0">
                <a:effectLst/>
              </a:rPr>
              <a:t>- построил белокаменный Кремль, заменив деревянные стены и башни.</a:t>
            </a:r>
          </a:p>
          <a:p>
            <a:pPr lvl="0"/>
            <a:r>
              <a:rPr lang="ru-RU" dirty="0">
                <a:effectLst/>
              </a:rPr>
              <a:t>- отражал нападения Литвы.</a:t>
            </a:r>
          </a:p>
          <a:p>
            <a:pPr lvl="0"/>
            <a:r>
              <a:rPr lang="ru-RU" b="1" dirty="0">
                <a:effectLst/>
              </a:rPr>
              <a:t>Русь при Дмитрии Донском впервые решилась на открытую борьбу с Ордой: </a:t>
            </a:r>
            <a:endParaRPr lang="ru-RU" dirty="0">
              <a:effectLst/>
            </a:endParaRPr>
          </a:p>
          <a:p>
            <a:r>
              <a:rPr lang="ru-RU" b="1" dirty="0">
                <a:effectLst/>
              </a:rPr>
              <a:t>Куликовская битва (8 сентября 1380г) – это не только первая крупная победа над Ордой, это ещё и первая попытка объединения сил против общего врага, </a:t>
            </a:r>
            <a:r>
              <a:rPr lang="ru-RU" dirty="0">
                <a:effectLst/>
              </a:rPr>
              <a:t>т.к. на Куликовом поле собрались полки почти всех русских княжеств.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EDDB3A-6384-4023-A319-FC33A06D8859}"/>
              </a:ext>
            </a:extLst>
          </p:cNvPr>
          <p:cNvSpPr txBox="1"/>
          <p:nvPr/>
        </p:nvSpPr>
        <p:spPr>
          <a:xfrm>
            <a:off x="1891862" y="4903076"/>
            <a:ext cx="2995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Куликово поле</a:t>
            </a:r>
          </a:p>
        </p:txBody>
      </p:sp>
    </p:spTree>
    <p:extLst>
      <p:ext uri="{BB962C8B-B14F-4D97-AF65-F5344CB8AC3E}">
        <p14:creationId xmlns:p14="http://schemas.microsoft.com/office/powerpoint/2010/main" val="3399742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8933CC-544D-4E3D-A43B-AA5AD2CDC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Раскол</a:t>
            </a:r>
          </a:p>
        </p:txBody>
      </p:sp>
      <p:pic>
        <p:nvPicPr>
          <p:cNvPr id="6146" name="Picture 2" descr="https://upload.wikimedia.org/wikipedia/commons/thumb/2/22/Lutsk_castle_tower.jpg/330px-Lutsk_castle_tower.jpg?utm_source=ru.wikipedia.org&amp;utm_campaign=parser&amp;utm_content=thumbnail">
            <a:extLst>
              <a:ext uri="{FF2B5EF4-FFF2-40B4-BE49-F238E27FC236}">
                <a16:creationId xmlns:a16="http://schemas.microsoft.com/office/drawing/2014/main" id="{A63B4C42-E06E-4AA2-9F70-6E73701C576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32840" y="1770288"/>
            <a:ext cx="2211615" cy="3317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CCC3197F-234C-41DC-9F4D-AC119DE2765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В 14 веке кроме Москвы появился ещё один центр притяжения русских земель – Великое княжество Литовское.</a:t>
            </a:r>
          </a:p>
          <a:p>
            <a:r>
              <a:rPr lang="ru-RU" dirty="0">
                <a:effectLst/>
              </a:rPr>
              <a:t>В результате Древняя Русь раскололась на две части:</a:t>
            </a:r>
          </a:p>
          <a:p>
            <a:r>
              <a:rPr lang="ru-RU" dirty="0">
                <a:effectLst/>
              </a:rPr>
              <a:t>Юго-западные княжества вошли в состав Литвы.</a:t>
            </a:r>
          </a:p>
          <a:p>
            <a:r>
              <a:rPr lang="ru-RU" dirty="0">
                <a:effectLst/>
              </a:rPr>
              <a:t>Северо-западные, центральные и восточные земли объединились вокруг Москвы.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9D5FD4-F107-49A1-BC0C-0686C216F662}"/>
              </a:ext>
            </a:extLst>
          </p:cNvPr>
          <p:cNvSpPr txBox="1"/>
          <p:nvPr/>
        </p:nvSpPr>
        <p:spPr>
          <a:xfrm>
            <a:off x="2506718" y="5087711"/>
            <a:ext cx="2337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Литовский замок в Луцке (Украина)</a:t>
            </a:r>
          </a:p>
        </p:txBody>
      </p:sp>
    </p:spTree>
    <p:extLst>
      <p:ext uri="{BB962C8B-B14F-4D97-AF65-F5344CB8AC3E}">
        <p14:creationId xmlns:p14="http://schemas.microsoft.com/office/powerpoint/2010/main" val="2967387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B33BB7-7738-489E-880C-54F66142B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Москва в первой половине 15 века</a:t>
            </a:r>
          </a:p>
        </p:txBody>
      </p:sp>
      <p:pic>
        <p:nvPicPr>
          <p:cNvPr id="2051" name="Picture 3" descr="Портрет из Царского титулярника.">
            <a:extLst>
              <a:ext uri="{FF2B5EF4-FFF2-40B4-BE49-F238E27FC236}">
                <a16:creationId xmlns:a16="http://schemas.microsoft.com/office/drawing/2014/main" id="{DED726B3-530D-48D6-80AC-D329D176A93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93744" y="1580050"/>
            <a:ext cx="3058329" cy="4059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9C34CD89-E9CD-4EAB-AE5D-10CEB642A83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dirty="0">
                <a:effectLst/>
              </a:rPr>
              <a:t>Во второй четверти 15 века, с 1425 по1453год на Руси шла очередная и последняя междоусобная война между потомками Дмитрия Донского за Москву. </a:t>
            </a:r>
          </a:p>
          <a:p>
            <a:r>
              <a:rPr lang="ru-RU" dirty="0"/>
              <a:t>Война сопровождалась взаимным ослеплением князей: 	Василия Косого в 1436 году и Василия Темного в 1446 году.</a:t>
            </a:r>
          </a:p>
          <a:p>
            <a:r>
              <a:rPr lang="ru-RU" dirty="0"/>
              <a:t>В средине 15 века перестала существовать Восточная Римская империя. Россия стала считать себя духовной  преемницей Византии.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31F6F54A-AD40-4F55-ACEF-7742E63C3F9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1835150"/>
            <a:ext cx="4746625" cy="4413250"/>
          </a:xfrm>
        </p:spPr>
        <p:txBody>
          <a:bodyPr/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30AF33-4CA9-4E55-8B7D-654350630ED3}"/>
              </a:ext>
            </a:extLst>
          </p:cNvPr>
          <p:cNvSpPr txBox="1"/>
          <p:nvPr/>
        </p:nvSpPr>
        <p:spPr>
          <a:xfrm flipH="1">
            <a:off x="1993744" y="5639288"/>
            <a:ext cx="305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Изображение Василия Темного</a:t>
            </a:r>
          </a:p>
        </p:txBody>
      </p:sp>
    </p:spTree>
    <p:extLst>
      <p:ext uri="{BB962C8B-B14F-4D97-AF65-F5344CB8AC3E}">
        <p14:creationId xmlns:p14="http://schemas.microsoft.com/office/powerpoint/2010/main" val="327791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FDEA21-78A4-4E94-8128-0860564E2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Эпоха Ивана Великого</a:t>
            </a:r>
          </a:p>
        </p:txBody>
      </p:sp>
      <p:sp>
        <p:nvSpPr>
          <p:cNvPr id="18" name="Объект 17">
            <a:extLst>
              <a:ext uri="{FF2B5EF4-FFF2-40B4-BE49-F238E27FC236}">
                <a16:creationId xmlns:a16="http://schemas.microsoft.com/office/drawing/2014/main" id="{75F58AB4-82D5-401B-A71E-CA15AEF3CE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algn="ctr"/>
            <a:r>
              <a:rPr lang="ru-RU" dirty="0"/>
              <a:t>Изображение герба на лицевой стороне печати </a:t>
            </a:r>
            <a:r>
              <a:rPr lang="ru-RU" dirty="0">
                <a:effectLst/>
              </a:rPr>
              <a:t>Ивана </a:t>
            </a:r>
            <a:r>
              <a:rPr lang="en-US" dirty="0">
                <a:effectLst/>
              </a:rPr>
              <a:t>III</a:t>
            </a:r>
            <a:r>
              <a:rPr lang="ru-RU" dirty="0">
                <a:effectLst/>
              </a:rPr>
              <a:t> 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1C8F545-A1F1-4DBC-95FD-65D3AA86ABF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>
                <a:effectLst/>
              </a:rPr>
              <a:t>С 1462 года начался очень важный этап в жизни нашего государства -  </a:t>
            </a:r>
          </a:p>
          <a:p>
            <a:pPr marL="36900" indent="0">
              <a:buNone/>
            </a:pPr>
            <a:r>
              <a:rPr lang="ru-RU" b="1" dirty="0">
                <a:effectLst/>
              </a:rPr>
              <a:t>эпоха правления Ивана </a:t>
            </a:r>
            <a:r>
              <a:rPr lang="en-US" b="1" dirty="0">
                <a:effectLst/>
              </a:rPr>
              <a:t>III</a:t>
            </a:r>
            <a:r>
              <a:rPr lang="ru-RU" b="1" dirty="0">
                <a:effectLst/>
              </a:rPr>
              <a:t> Великого (1462 – 1505г.) – </a:t>
            </a:r>
            <a:r>
              <a:rPr lang="ru-RU" dirty="0">
                <a:effectLst/>
              </a:rPr>
              <a:t>сына Василия Тёмного.</a:t>
            </a:r>
          </a:p>
          <a:p>
            <a:r>
              <a:rPr lang="ru-RU" b="1" dirty="0">
                <a:effectLst/>
              </a:rPr>
              <a:t>Деятельность Ивана </a:t>
            </a:r>
            <a:r>
              <a:rPr lang="en-US" b="1" dirty="0">
                <a:effectLst/>
              </a:rPr>
              <a:t>III</a:t>
            </a:r>
            <a:r>
              <a:rPr lang="ru-RU" b="1" dirty="0">
                <a:effectLst/>
              </a:rPr>
              <a:t>:</a:t>
            </a:r>
          </a:p>
          <a:p>
            <a:r>
              <a:rPr lang="ru-RU" b="1" dirty="0">
                <a:effectLst/>
              </a:rPr>
              <a:t>- Прекращение ига</a:t>
            </a:r>
            <a:r>
              <a:rPr lang="ru-RU" dirty="0">
                <a:effectLst/>
              </a:rPr>
              <a:t> – </a:t>
            </a:r>
            <a:r>
              <a:rPr lang="ru-RU" b="1" dirty="0">
                <a:effectLst/>
              </a:rPr>
              <a:t>1480г. – «Стояние на Угре».</a:t>
            </a:r>
            <a:endParaRPr lang="ru-RU" dirty="0">
              <a:effectLst/>
            </a:endParaRPr>
          </a:p>
          <a:p>
            <a:r>
              <a:rPr lang="ru-RU" b="1" dirty="0">
                <a:effectLst/>
              </a:rPr>
              <a:t>- Объединение русских княжеств</a:t>
            </a:r>
            <a:r>
              <a:rPr lang="ru-RU" dirty="0">
                <a:effectLst/>
              </a:rPr>
              <a:t> под властью Москвы.</a:t>
            </a:r>
          </a:p>
          <a:p>
            <a:pPr lvl="0"/>
            <a:r>
              <a:rPr lang="ru-RU" dirty="0">
                <a:effectLst/>
              </a:rPr>
              <a:t>- У объединённого государства </a:t>
            </a:r>
            <a:r>
              <a:rPr lang="ru-RU" b="1" dirty="0">
                <a:effectLst/>
              </a:rPr>
              <a:t>появился</a:t>
            </a:r>
            <a:r>
              <a:rPr lang="ru-RU" dirty="0">
                <a:effectLst/>
              </a:rPr>
              <a:t> </a:t>
            </a:r>
            <a:r>
              <a:rPr lang="ru-RU" b="1" dirty="0">
                <a:effectLst/>
              </a:rPr>
              <a:t>новый герб – двуглавый орёл (герб Римской империи)</a:t>
            </a:r>
            <a:endParaRPr lang="ru-RU" dirty="0">
              <a:effectLst/>
            </a:endParaRPr>
          </a:p>
          <a:p>
            <a:pPr marL="36900" indent="0">
              <a:buNone/>
            </a:pPr>
            <a:r>
              <a:rPr lang="ru-RU" dirty="0">
                <a:effectLst/>
              </a:rPr>
              <a:t>     </a:t>
            </a:r>
          </a:p>
          <a:p>
            <a:endParaRPr lang="ru-RU" dirty="0">
              <a:effectLst/>
            </a:endParaRPr>
          </a:p>
          <a:p>
            <a:endParaRPr lang="ru-RU" dirty="0"/>
          </a:p>
        </p:txBody>
      </p:sp>
      <p:sp>
        <p:nvSpPr>
          <p:cNvPr id="19" name="Rectangle 14">
            <a:extLst>
              <a:ext uri="{FF2B5EF4-FFF2-40B4-BE49-F238E27FC236}">
                <a16:creationId xmlns:a16="http://schemas.microsoft.com/office/drawing/2014/main" id="{5F2AD9D8-AAD0-4B25-82B5-70DEFB88ED2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3057898" y="519504"/>
            <a:ext cx="3940226" cy="507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5133" name="Picture 13" descr="XV">
            <a:extLst>
              <a:ext uri="{FF2B5EF4-FFF2-40B4-BE49-F238E27FC236}">
                <a16:creationId xmlns:a16="http://schemas.microsoft.com/office/drawing/2014/main" id="{EE5E69F0-4561-43BF-BFE8-491B8A4A2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477192" y="1932273"/>
            <a:ext cx="2078183" cy="230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8771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389541-9E7A-4CD0-93BE-0ABE9099B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Эпоха Ивана Великого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BF0CD3-0EBD-415B-9576-9EAC83DEBA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485" y="1797251"/>
            <a:ext cx="5060497" cy="4058750"/>
          </a:xfrm>
        </p:spPr>
        <p:txBody>
          <a:bodyPr>
            <a:normAutofit lnSpcReduction="10000"/>
          </a:bodyPr>
          <a:lstStyle/>
          <a:p>
            <a:endParaRPr lang="ru-RU" b="1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algn="ctr"/>
            <a:r>
              <a:rPr lang="ru-RU" dirty="0">
                <a:effectLst/>
              </a:rPr>
              <a:t>Успенский собор Московского Кремля. </a:t>
            </a:r>
            <a:r>
              <a:rPr lang="ru-RU">
                <a:effectLst/>
              </a:rPr>
              <a:t>Аристотель Фиораванти</a:t>
            </a:r>
            <a:r>
              <a:rPr lang="ru-RU" dirty="0">
                <a:effectLst/>
              </a:rPr>
              <a:t>. 1479 год. 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AF13949-5A99-4791-A405-EF86650A58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ru-RU" b="1" dirty="0">
                <a:effectLst/>
              </a:rPr>
              <a:t>Москва стала столицей</a:t>
            </a:r>
            <a:r>
              <a:rPr lang="ru-RU" dirty="0">
                <a:effectLst/>
              </a:rPr>
              <a:t> </a:t>
            </a:r>
            <a:r>
              <a:rPr lang="ru-RU" b="1" dirty="0">
                <a:effectLst/>
              </a:rPr>
              <a:t>государства в конце </a:t>
            </a:r>
            <a:r>
              <a:rPr lang="en-US" b="1" dirty="0">
                <a:effectLst/>
              </a:rPr>
              <a:t>XV</a:t>
            </a:r>
            <a:r>
              <a:rPr lang="ru-RU" b="1" dirty="0">
                <a:effectLst/>
              </a:rPr>
              <a:t>века</a:t>
            </a:r>
            <a:r>
              <a:rPr lang="ru-RU" dirty="0">
                <a:effectLst/>
              </a:rPr>
              <a:t>.</a:t>
            </a:r>
          </a:p>
          <a:p>
            <a:r>
              <a:rPr lang="ru-RU" b="1" dirty="0">
                <a:effectLst/>
              </a:rPr>
              <a:t>Был составлен новый свод законов: Судебник</a:t>
            </a:r>
            <a:r>
              <a:rPr lang="ru-RU" dirty="0">
                <a:effectLst/>
              </a:rPr>
              <a:t> – 1497год.</a:t>
            </a:r>
          </a:p>
          <a:p>
            <a:r>
              <a:rPr lang="ru-RU" dirty="0">
                <a:effectLst/>
              </a:rPr>
              <a:t>Появились новые органы управления государством, например, приказы – аналог министерств, дворцы – органы управления земельными наделами князя </a:t>
            </a:r>
          </a:p>
          <a:p>
            <a:r>
              <a:rPr lang="ru-RU" b="1" dirty="0">
                <a:effectLst/>
              </a:rPr>
              <a:t>Был построен кирпичный Кремль итальянскими мастерами.</a:t>
            </a:r>
            <a:endParaRPr lang="ru-RU" dirty="0">
              <a:effectLst/>
            </a:endParaRPr>
          </a:p>
          <a:p>
            <a:endParaRPr lang="ru-RU" dirty="0"/>
          </a:p>
        </p:txBody>
      </p:sp>
      <p:pic>
        <p:nvPicPr>
          <p:cNvPr id="3076" name="Picture 4" descr="https://upload.wikimedia.org/wikipedia/commons/thumb/8/87/%D0%A3%D1%81%D0%BF%D0%B5%D0%BD%D1%81%D0%BA%D0%B8%D0%B9_%D1%81%D0%BE%D0%B1%D0%BE%D1%80_%D0%9C%D0%BE%D1%81%D0%BA%D0%BE%D0%B2%D1%81%D0%BA%D0%BE%D0%B3%D0%BE_%D0%9A%D1%80%D0%B5%D0%BC%D0%BB%D1%8F._%283%29.jpg/330px-%D0%A3%D1%81%D0%BF%D0%B5%D0%BD%D1%81%D0%BA%D0%B8%D0%B9_%D1%81%D0%BE%D0%B1%D0%BE%D1%80_%D0%9C%D0%BE%D1%81%D0%BA%D0%BE%D0%B2%D1%81%D0%BA%D0%BE%D0%B3%D0%BE_%D0%9A%D1%80%D0%B5%D0%BC%D0%BB%D1%8F._%283%29.jpg">
            <a:extLst>
              <a:ext uri="{FF2B5EF4-FFF2-40B4-BE49-F238E27FC236}">
                <a16:creationId xmlns:a16="http://schemas.microsoft.com/office/drawing/2014/main" id="{1F882C96-13B3-4B65-A21C-E15821F4A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425" y="1569863"/>
            <a:ext cx="4181616" cy="3459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1288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900CD1-5D9A-4DBD-ACAF-B6FBFEAF3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Эпоха Ивана Великого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E3E281F-B877-4488-A196-3D99B93E4E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>
                <a:effectLst/>
              </a:rPr>
              <a:t>- Ивану </a:t>
            </a:r>
            <a:r>
              <a:rPr lang="en-US" dirty="0">
                <a:effectLst/>
              </a:rPr>
              <a:t>III </a:t>
            </a:r>
            <a:r>
              <a:rPr lang="ru-RU" dirty="0">
                <a:effectLst/>
              </a:rPr>
              <a:t>в результате войн с Литвой удалось вернуть некоторые русские пограничные княжества (Чернигов, Курск и т.д.). </a:t>
            </a:r>
          </a:p>
          <a:p>
            <a:r>
              <a:rPr lang="ru-RU" dirty="0">
                <a:effectLst/>
              </a:rPr>
              <a:t>- </a:t>
            </a:r>
            <a:r>
              <a:rPr lang="ru-RU" b="1" dirty="0">
                <a:effectLst/>
              </a:rPr>
              <a:t>Появилась почта.</a:t>
            </a:r>
          </a:p>
          <a:p>
            <a:r>
              <a:rPr lang="ru-RU" b="1" dirty="0">
                <a:effectLst/>
              </a:rPr>
              <a:t>- Была проведена реформа календаря (год стал начинаться с 1 сентября). </a:t>
            </a:r>
            <a:r>
              <a:rPr lang="ru-RU" dirty="0">
                <a:effectLst/>
              </a:rPr>
              <a:t>Реформа календаря косвенно связана с тем, что вся христианская Европа в 1492 году ожидала конца света.</a:t>
            </a:r>
            <a:r>
              <a:rPr lang="ru-RU" b="1" dirty="0">
                <a:effectLst/>
              </a:rPr>
              <a:t> </a:t>
            </a:r>
            <a:r>
              <a:rPr lang="ru-RU" dirty="0">
                <a:effectLst/>
              </a:rPr>
              <a:t>Когда стало ясно, что жизнь продолжается, в новом календаре изменили дату нового года. </a:t>
            </a:r>
          </a:p>
          <a:p>
            <a:endParaRPr lang="ru-RU" dirty="0">
              <a:effectLst/>
            </a:endParaRPr>
          </a:p>
          <a:p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0630EA2-2DA9-4ECB-88C1-22DDCA4392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8612" y="1764432"/>
            <a:ext cx="5060497" cy="4058750"/>
          </a:xfrm>
        </p:spPr>
        <p:txBody>
          <a:bodyPr>
            <a:normAutofit fontScale="92500" lnSpcReduction="10000"/>
          </a:bodyPr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marL="36900" indent="0">
              <a:buNone/>
            </a:pPr>
            <a:endParaRPr lang="ru-RU" dirty="0"/>
          </a:p>
          <a:p>
            <a:pPr algn="ctr"/>
            <a:r>
              <a:rPr lang="ru-RU" dirty="0"/>
              <a:t>Ямская гоньба.</a:t>
            </a:r>
          </a:p>
          <a:p>
            <a:pPr algn="ctr"/>
            <a:r>
              <a:rPr lang="ru-RU" dirty="0"/>
              <a:t> («Ямская тройка на зимней дороге» Сверчков Николай.)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58C9DA41-81B9-450C-A904-30F7D2A84FCB}"/>
              </a:ext>
            </a:extLst>
          </p:cNvPr>
          <p:cNvSpPr txBox="1">
            <a:spLocks/>
          </p:cNvSpPr>
          <p:nvPr/>
        </p:nvSpPr>
        <p:spPr>
          <a:xfrm>
            <a:off x="-966815" y="1764432"/>
            <a:ext cx="1212544" cy="158687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endParaRPr lang="ru-RU"/>
          </a:p>
          <a:p>
            <a:endParaRPr lang="ru-RU"/>
          </a:p>
          <a:p>
            <a:endParaRPr lang="ru-RU"/>
          </a:p>
          <a:p>
            <a:endParaRPr lang="ru-RU"/>
          </a:p>
          <a:p>
            <a:endParaRPr lang="ru-RU"/>
          </a:p>
          <a:p>
            <a:endParaRPr lang="ru-RU"/>
          </a:p>
          <a:p>
            <a:endParaRPr lang="ru-RU"/>
          </a:p>
          <a:p>
            <a:endParaRPr lang="ru-RU"/>
          </a:p>
          <a:p>
            <a:r>
              <a:rPr lang="ru-RU"/>
              <a:t>Ямская гоньба.</a:t>
            </a:r>
            <a:endParaRPr lang="ru-RU" dirty="0"/>
          </a:p>
        </p:txBody>
      </p:sp>
      <p:pic>
        <p:nvPicPr>
          <p:cNvPr id="11" name="Picture 6" descr="https://avatars.dzeninfra.ru/get-zen_doc/271828/pub_69b54c03af81d353177424d2_69b54c3f26e0b04f02fd9d06/smart_crop_516x290">
            <a:extLst>
              <a:ext uri="{FF2B5EF4-FFF2-40B4-BE49-F238E27FC236}">
                <a16:creationId xmlns:a16="http://schemas.microsoft.com/office/drawing/2014/main" id="{1AE12DCE-DB29-4193-B15E-EA1FB7683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375" y="1732449"/>
            <a:ext cx="5100917" cy="2856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64589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Сланец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TM04033929[[fn=Сланец]]</Template>
  <TotalTime>213</TotalTime>
  <Words>606</Words>
  <Application>Microsoft Office PowerPoint</Application>
  <PresentationFormat>Широкоэкранный</PresentationFormat>
  <Paragraphs>89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Calisto MT</vt:lpstr>
      <vt:lpstr>Trebuchet MS</vt:lpstr>
      <vt:lpstr>Wingdings 2</vt:lpstr>
      <vt:lpstr>Сланец</vt:lpstr>
      <vt:lpstr>Усиление Москвы (XIV – XV веков) </vt:lpstr>
      <vt:lpstr>Русь в начале 14 века</vt:lpstr>
      <vt:lpstr>Иван Калита (1325 – 1340) </vt:lpstr>
      <vt:lpstr>Дмитрий Донской (1359 – 1389). </vt:lpstr>
      <vt:lpstr>Раскол</vt:lpstr>
      <vt:lpstr>Москва в первой половине 15 века</vt:lpstr>
      <vt:lpstr>Эпоха Ивана Великого</vt:lpstr>
      <vt:lpstr>Эпоха Ивана Великого</vt:lpstr>
      <vt:lpstr>Эпоха Ивана Великого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Усиление Москвы</dc:title>
  <dc:creator>borod</dc:creator>
  <cp:lastModifiedBy>borod</cp:lastModifiedBy>
  <cp:revision>38</cp:revision>
  <dcterms:created xsi:type="dcterms:W3CDTF">2026-08-29T01:56:28Z</dcterms:created>
  <dcterms:modified xsi:type="dcterms:W3CDTF">2026-08-30T18:22:28Z</dcterms:modified>
</cp:coreProperties>
</file>