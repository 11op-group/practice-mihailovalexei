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orod" initials="b" lastIdx="1" clrIdx="0">
    <p:extLst>
      <p:ext uri="{19B8F6BF-5375-455C-9EA6-DF929625EA0E}">
        <p15:presenceInfo xmlns:p15="http://schemas.microsoft.com/office/powerpoint/2012/main" userId="borod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5038C0-7B5E-4C28-BBD1-EC431C6A2CFA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CD5041-6118-4287-BFB9-31C57BDAC2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7817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D5041-6118-4287-BFB9-31C57BDAC202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2070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7BC0B-8ED2-4596-91A2-EB49A7857EE2}" type="datetimeFigureOut">
              <a:rPr lang="ru-RU" smtClean="0"/>
              <a:pPr/>
              <a:t>06.10.2026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2A876-A06B-4480-80A0-45C132CE29E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7298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7BC0B-8ED2-4596-91A2-EB49A7857EE2}" type="datetimeFigureOut">
              <a:rPr lang="ru-RU" smtClean="0"/>
              <a:pPr/>
              <a:t>06.10.2026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2A876-A06B-4480-80A0-45C132CE29E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431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7BC0B-8ED2-4596-91A2-EB49A7857EE2}" type="datetimeFigureOut">
              <a:rPr lang="ru-RU" smtClean="0"/>
              <a:pPr/>
              <a:t>06.10.2026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2A876-A06B-4480-80A0-45C132CE29E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2957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7BC0B-8ED2-4596-91A2-EB49A7857EE2}" type="datetimeFigureOut">
              <a:rPr lang="ru-RU" smtClean="0"/>
              <a:pPr/>
              <a:t>06.10.2026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2A876-A06B-4480-80A0-45C132CE29E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937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7BC0B-8ED2-4596-91A2-EB49A7857EE2}" type="datetimeFigureOut">
              <a:rPr lang="ru-RU" smtClean="0"/>
              <a:pPr/>
              <a:t>06.10.2026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2A876-A06B-4480-80A0-45C132CE29E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9321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7BC0B-8ED2-4596-91A2-EB49A7857EE2}" type="datetimeFigureOut">
              <a:rPr lang="ru-RU" smtClean="0"/>
              <a:pPr/>
              <a:t>06.10.2026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2A876-A06B-4480-80A0-45C132CE29E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5981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7BC0B-8ED2-4596-91A2-EB49A7857EE2}" type="datetimeFigureOut">
              <a:rPr lang="ru-RU" smtClean="0"/>
              <a:pPr/>
              <a:t>06.10.2026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2A876-A06B-4480-80A0-45C132CE29E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5860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7BC0B-8ED2-4596-91A2-EB49A7857EE2}" type="datetimeFigureOut">
              <a:rPr lang="ru-RU" smtClean="0"/>
              <a:pPr/>
              <a:t>06.10.2026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2A876-A06B-4480-80A0-45C132CE29E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3815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7BC0B-8ED2-4596-91A2-EB49A7857EE2}" type="datetimeFigureOut">
              <a:rPr lang="ru-RU" smtClean="0"/>
              <a:pPr/>
              <a:t>06.10.2026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2A876-A06B-4480-80A0-45C132CE29E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7495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7BC0B-8ED2-4596-91A2-EB49A7857EE2}" type="datetimeFigureOut">
              <a:rPr lang="ru-RU" smtClean="0"/>
              <a:pPr/>
              <a:t>06.10.2026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2A876-A06B-4480-80A0-45C132CE29E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4389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7BC0B-8ED2-4596-91A2-EB49A7857EE2}" type="datetimeFigureOut">
              <a:rPr lang="ru-RU" smtClean="0"/>
              <a:pPr/>
              <a:t>06.10.2026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2A876-A06B-4480-80A0-45C132CE29E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9878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67BC0B-8ED2-4596-91A2-EB49A7857EE2}" type="datetimeFigureOut">
              <a:rPr lang="ru-RU" smtClean="0"/>
              <a:pPr/>
              <a:t>06.10.2026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C2A876-A06B-4480-80A0-45C132CE29E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60548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Гибель империи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 Первая мировая война и события 1917 года привели к гибели Российской империи в конце октября 1917 года…</a:t>
            </a:r>
          </a:p>
        </p:txBody>
      </p:sp>
    </p:spTree>
    <p:extLst>
      <p:ext uri="{BB962C8B-B14F-4D97-AF65-F5344CB8AC3E}">
        <p14:creationId xmlns:p14="http://schemas.microsoft.com/office/powerpoint/2010/main" val="139108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Россия в начале 20 века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Россия в начале 20 века была </a:t>
            </a:r>
          </a:p>
          <a:p>
            <a:pPr marL="0" indent="0">
              <a:buNone/>
            </a:pPr>
            <a:r>
              <a:rPr lang="ru-RU" dirty="0"/>
              <a:t>аграрно-индустриальной среднеразвитой капиталистической державой и занимала пятое место по уровню экономического развития. Тем не менее, в стране существовали внутриполитические проблемы.</a:t>
            </a: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78AEFA-6224-4017-BD46-34BF41AB9B82}"/>
              </a:ext>
            </a:extLst>
          </p:cNvPr>
          <p:cNvSpPr txBox="1"/>
          <p:nvPr/>
        </p:nvSpPr>
        <p:spPr>
          <a:xfrm>
            <a:off x="1754136" y="4955458"/>
            <a:ext cx="3230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Дореволюционная Москва начала 20 века.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C0FAB5A7-45E8-48F4-ACF6-97923950288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87478" y="1902542"/>
            <a:ext cx="5181600" cy="2711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184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Социально-экономическая проблема империи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AB5974F-F4A5-4570-A093-C7E93BBD391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31723" y="1825625"/>
            <a:ext cx="5181600" cy="3427015"/>
          </a:xfrm>
          <a:prstGeom prst="rect">
            <a:avLst/>
          </a:prstGeo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В России начала 20 века за несколько последних десятилетий появилось множество заводов и фабрик. Быстрыми темпами шло увеличение рабочего класса. В основном, это были неквалифицированные рабочие, которые подвергались жесткой эксплуатации и, практически, не имели собственности.</a:t>
            </a:r>
          </a:p>
          <a:p>
            <a:pPr marL="0" indent="0">
              <a:buNone/>
            </a:pPr>
            <a:r>
              <a:rPr lang="ru-RU" dirty="0"/>
              <a:t>Поэтому в нашей стране стали формироваться рабочие партии, которые пытались защитить интересы рабочих и изменить государственное устройство. </a:t>
            </a:r>
          </a:p>
          <a:p>
            <a:pPr marL="0" indent="0">
              <a:buNone/>
            </a:pPr>
            <a:r>
              <a:rPr lang="ru-RU" dirty="0"/>
              <a:t>Например, партия </a:t>
            </a:r>
            <a:r>
              <a:rPr lang="ru-RU" b="1" dirty="0"/>
              <a:t>РСДРП (Российская социал-демократическая рабочая партия). 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B0E70D-1F4D-47DA-A59C-5CCF6E7A2C0E}"/>
              </a:ext>
            </a:extLst>
          </p:cNvPr>
          <p:cNvSpPr txBox="1"/>
          <p:nvPr/>
        </p:nvSpPr>
        <p:spPr>
          <a:xfrm>
            <a:off x="631723" y="5619135"/>
            <a:ext cx="518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Рабочие в Российской империи начала 20 века.</a:t>
            </a:r>
          </a:p>
        </p:txBody>
      </p:sp>
    </p:spTree>
    <p:extLst>
      <p:ext uri="{BB962C8B-B14F-4D97-AF65-F5344CB8AC3E}">
        <p14:creationId xmlns:p14="http://schemas.microsoft.com/office/powerpoint/2010/main" val="3742572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Проблема государственного устройства и национальная проблема</a:t>
            </a:r>
          </a:p>
        </p:txBody>
      </p:sp>
      <p:pic>
        <p:nvPicPr>
          <p:cNvPr id="2" name="Объект 1">
            <a:extLst>
              <a:ext uri="{FF2B5EF4-FFF2-40B4-BE49-F238E27FC236}">
                <a16:creationId xmlns:a16="http://schemas.microsoft.com/office/drawing/2014/main" id="{1C88D3DB-F504-4F3E-A67E-B482A9AE967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42328" y="2020530"/>
            <a:ext cx="5072672" cy="2752368"/>
          </a:xfrm>
          <a:prstGeom prst="rect">
            <a:avLst/>
          </a:prstGeom>
        </p:spPr>
      </p:pic>
      <p:sp>
        <p:nvSpPr>
          <p:cNvPr id="7" name="Объект 6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Еще одну политическую проблему империи сформировала позиция </a:t>
            </a:r>
            <a:r>
              <a:rPr lang="ru-RU" b="1" dirty="0"/>
              <a:t>Николая </a:t>
            </a:r>
            <a:r>
              <a:rPr lang="en-US" b="1" dirty="0"/>
              <a:t>II</a:t>
            </a:r>
            <a:r>
              <a:rPr lang="ru-RU" b="1" dirty="0"/>
              <a:t>, который видел свою задачу в сохранении самодержавия</a:t>
            </a:r>
            <a:r>
              <a:rPr lang="ru-RU" dirty="0"/>
              <a:t>, в то время как различные слои населения желали ограничить власть царя Конституцией, чтобы участвовать в управлении государством через парламент. </a:t>
            </a:r>
          </a:p>
          <a:p>
            <a:pPr marL="0" indent="0">
              <a:buNone/>
            </a:pPr>
            <a:r>
              <a:rPr lang="ru-RU" dirty="0"/>
              <a:t>Межнациональные конфликты (</a:t>
            </a:r>
            <a:r>
              <a:rPr lang="ru-RU" b="1" dirty="0"/>
              <a:t>еврейские погромы</a:t>
            </a:r>
            <a:r>
              <a:rPr lang="ru-RU" dirty="0"/>
              <a:t>) и </a:t>
            </a:r>
            <a:r>
              <a:rPr lang="ru-RU" b="1" dirty="0"/>
              <a:t>стремление к самостоятельности народов, входящих в империю</a:t>
            </a:r>
            <a:r>
              <a:rPr lang="ru-RU" dirty="0"/>
              <a:t> (например, финнов, поляков), составили третью важную проблему страны.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16CA35-1570-4A1F-9340-B11366D28793}"/>
              </a:ext>
            </a:extLst>
          </p:cNvPr>
          <p:cNvSpPr txBox="1"/>
          <p:nvPr/>
        </p:nvSpPr>
        <p:spPr>
          <a:xfrm>
            <a:off x="838200" y="5455429"/>
            <a:ext cx="4574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Николай </a:t>
            </a:r>
            <a:r>
              <a:rPr lang="en-US" dirty="0"/>
              <a:t>II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8166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Первая русская революция</a:t>
            </a:r>
            <a:br>
              <a:rPr lang="ru-RU" dirty="0"/>
            </a:br>
            <a:r>
              <a:rPr lang="ru-RU" dirty="0"/>
              <a:t> (1905 – 1907 годы)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D8297E0-D2C5-4B9C-95A0-036E84AA888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3678" y="1980888"/>
            <a:ext cx="5312854" cy="2989318"/>
          </a:xfrm>
          <a:prstGeom prst="rect">
            <a:avLst/>
          </a:prstGeo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Все эти политические и экономические проблемы сформировали нестабильную ситуацию в государстве и привели и к трем революционным выступлениям в России.</a:t>
            </a:r>
          </a:p>
          <a:p>
            <a:r>
              <a:rPr lang="ru-RU" dirty="0"/>
              <a:t>Первая русская революция (1905 – 1907 годы)</a:t>
            </a:r>
            <a:r>
              <a:rPr lang="ru-RU" b="1" dirty="0"/>
              <a:t> </a:t>
            </a:r>
            <a:r>
              <a:rPr lang="ru-RU" dirty="0"/>
              <a:t>началась с Кровавого воскресенья, продолжалась полтора года, была подавлена и привела к образованию </a:t>
            </a:r>
            <a:r>
              <a:rPr lang="ru-RU" b="1" dirty="0"/>
              <a:t>Государственной Думы</a:t>
            </a:r>
            <a:r>
              <a:rPr lang="ru-RU" dirty="0"/>
              <a:t> – российского парламента (1906 год), и к проведению </a:t>
            </a:r>
            <a:r>
              <a:rPr lang="ru-RU" b="1" dirty="0"/>
              <a:t>аграрной реформы Столыпина (1906 год).</a:t>
            </a:r>
            <a:r>
              <a:rPr lang="ru-RU" b="1" i="1" dirty="0"/>
              <a:t> 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F233A3-424F-4367-A513-6971939F8E94}"/>
              </a:ext>
            </a:extLst>
          </p:cNvPr>
          <p:cNvSpPr txBox="1"/>
          <p:nvPr/>
        </p:nvSpPr>
        <p:spPr>
          <a:xfrm flipH="1">
            <a:off x="663678" y="5560142"/>
            <a:ext cx="518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«Кровавое воскресенье». Евгений Сорокин</a:t>
            </a:r>
          </a:p>
        </p:txBody>
      </p:sp>
    </p:spTree>
    <p:extLst>
      <p:ext uri="{BB962C8B-B14F-4D97-AF65-F5344CB8AC3E}">
        <p14:creationId xmlns:p14="http://schemas.microsoft.com/office/powerpoint/2010/main" val="1824461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Первая мировая война (1914 – 1918 годы). Причина и повод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Следующим испытанием для нашей страны явилась Первая мировая война.</a:t>
            </a:r>
          </a:p>
          <a:p>
            <a:r>
              <a:rPr lang="ru-RU" dirty="0"/>
              <a:t>Причиной войны стал передел колоний, выгодный Германии.</a:t>
            </a:r>
          </a:p>
          <a:p>
            <a:r>
              <a:rPr lang="ru-RU" dirty="0"/>
              <a:t>Поводом к войне было убийство наследного принца Австро-Венгрии эрцгерцога Франца Фердинанда и его жены Софии сербским террористом Гаврилой Принципом в Сараево  -  столице Боснии 28 июня 1914 года. </a:t>
            </a:r>
          </a:p>
          <a:p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25D6AC3A-0262-42F8-BF98-DF38E3C792A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825625"/>
            <a:ext cx="5181600" cy="27117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A0064E3-8EA3-4C58-B3C8-ED3E4626E1DD}"/>
              </a:ext>
            </a:extLst>
          </p:cNvPr>
          <p:cNvSpPr txBox="1"/>
          <p:nvPr/>
        </p:nvSpPr>
        <p:spPr>
          <a:xfrm flipH="1">
            <a:off x="958645" y="5145713"/>
            <a:ext cx="5061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Русский патриотический плакат времен Первой мировой войны</a:t>
            </a:r>
          </a:p>
        </p:txBody>
      </p:sp>
    </p:spTree>
    <p:extLst>
      <p:ext uri="{BB962C8B-B14F-4D97-AF65-F5344CB8AC3E}">
        <p14:creationId xmlns:p14="http://schemas.microsoft.com/office/powerpoint/2010/main" val="2471652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Начало войны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D75F416-F696-44CC-9F78-59D4589A2F6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74623" y="1825625"/>
            <a:ext cx="5445177" cy="4150434"/>
          </a:xfrm>
          <a:prstGeom prst="rect">
            <a:avLst/>
          </a:prstGeom>
        </p:spPr>
      </p:pic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ru-RU" dirty="0"/>
              <a:t>    В конфликте между Австро-Венгрией и Сербией Россия и Франция поддерживали Сербию, а Германия - Австро-Венгрию.</a:t>
            </a:r>
          </a:p>
          <a:p>
            <a:r>
              <a:rPr lang="ru-RU" dirty="0"/>
              <a:t>1 августа Германия объявила войну России, а 3 августа - Франции .</a:t>
            </a:r>
          </a:p>
          <a:p>
            <a:r>
              <a:rPr lang="ru-RU" dirty="0"/>
              <a:t>В результате, в этой войне участвовали 38 государств мира.</a:t>
            </a:r>
            <a:r>
              <a:rPr lang="ru-RU" b="1" dirty="0"/>
              <a:t> </a:t>
            </a:r>
            <a:r>
              <a:rPr lang="ru-RU" dirty="0"/>
              <a:t>Война шла в Европе, Азии и Африке, в Атлантическом и Тихом океанах. </a:t>
            </a:r>
          </a:p>
          <a:p>
            <a:endParaRPr lang="ru-RU" dirty="0"/>
          </a:p>
          <a:p>
            <a:r>
              <a:rPr lang="ru-RU" dirty="0"/>
              <a:t>Военные действия велись между двумя военными блоками: </a:t>
            </a:r>
            <a:r>
              <a:rPr lang="ru-RU" b="1" dirty="0"/>
              <a:t>союз</a:t>
            </a:r>
            <a:r>
              <a:rPr lang="ru-RU" dirty="0"/>
              <a:t>  </a:t>
            </a:r>
            <a:r>
              <a:rPr lang="ru-RU" b="1" dirty="0"/>
              <a:t>Антанта </a:t>
            </a:r>
            <a:r>
              <a:rPr lang="ru-RU" dirty="0"/>
              <a:t>(Великобритания, Франция, Россия). и </a:t>
            </a:r>
            <a:r>
              <a:rPr lang="ru-RU" b="1" dirty="0"/>
              <a:t>Четверной союз </a:t>
            </a:r>
            <a:r>
              <a:rPr lang="ru-RU" dirty="0"/>
              <a:t>(Германия, Австро-Венгрия, Османская империя, Болгария).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Россия в Первой мировой войне</a:t>
            </a:r>
          </a:p>
        </p:txBody>
      </p:sp>
      <p:pic>
        <p:nvPicPr>
          <p:cNvPr id="3" name="Объект 2">
            <a:extLst>
              <a:ext uri="{FF2B5EF4-FFF2-40B4-BE49-F238E27FC236}">
                <a16:creationId xmlns:a16="http://schemas.microsoft.com/office/drawing/2014/main" id="{A1E08CF4-7155-4BA6-80CF-9FFF8F5E74A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16841" y="1825625"/>
            <a:ext cx="5102959" cy="3321562"/>
          </a:xfrm>
          <a:prstGeom prst="rect">
            <a:avLst/>
          </a:prstGeom>
        </p:spPr>
      </p:pic>
      <p:sp>
        <p:nvSpPr>
          <p:cNvPr id="7" name="Содержимое 6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ru-RU" dirty="0"/>
              <a:t>России пришлось одновременно воевать против Германии, Австро-Венгрии и Османской империи (Турции).</a:t>
            </a:r>
          </a:p>
          <a:p>
            <a:pPr>
              <a:buNone/>
            </a:pPr>
            <a:r>
              <a:rPr lang="ru-RU" dirty="0"/>
              <a:t>С течением времени война приобрела затяжной характер. Германия была сильным противником, и российские войска постепенно отступали, оставляя Прибалтику, Польшу и Украину.</a:t>
            </a:r>
          </a:p>
          <a:p>
            <a:pPr>
              <a:buNone/>
            </a:pPr>
            <a:r>
              <a:rPr lang="ru-RU" dirty="0"/>
              <a:t>Наиболее успешными были действия нашей армии против Австро-Венгрии (Брусиловский прорыв) и против Турции.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FF76E9-5B37-46F5-AB31-E90EF0F7806D}"/>
              </a:ext>
            </a:extLst>
          </p:cNvPr>
          <p:cNvSpPr txBox="1"/>
          <p:nvPr/>
        </p:nvSpPr>
        <p:spPr>
          <a:xfrm>
            <a:off x="1327355" y="5719763"/>
            <a:ext cx="4350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Первая мировая в фотографиях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Россия в 1917 году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C21E0DCD-71AE-4065-B898-37366DE033F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05267" y="1690689"/>
            <a:ext cx="4785957" cy="3264770"/>
          </a:xfrm>
          <a:prstGeom prst="rect">
            <a:avLst/>
          </a:prstGeom>
        </p:spPr>
      </p:pic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В 1917 году в России на фоне войны и агитации политических партий произошли две революции.</a:t>
            </a:r>
          </a:p>
          <a:p>
            <a:r>
              <a:rPr lang="ru-RU" dirty="0"/>
              <a:t> В результате Февральской революции Николай </a:t>
            </a:r>
            <a:r>
              <a:rPr lang="en-US" dirty="0"/>
              <a:t>II </a:t>
            </a:r>
            <a:r>
              <a:rPr lang="ru-RU" dirty="0"/>
              <a:t>отрекся от престола, и в стране установилось Двоевластие.</a:t>
            </a:r>
          </a:p>
          <a:p>
            <a:r>
              <a:rPr lang="ru-RU" dirty="0"/>
              <a:t>В результате Октябрьской революции к власти пришли </a:t>
            </a:r>
            <a:r>
              <a:rPr lang="ru-RU" b="1" dirty="0"/>
              <a:t>большевики ( партия </a:t>
            </a:r>
            <a:r>
              <a:rPr lang="ru-RU" b="1" dirty="0" err="1"/>
              <a:t>РСДРПб</a:t>
            </a:r>
            <a:r>
              <a:rPr lang="ru-RU" b="1" dirty="0"/>
              <a:t>) </a:t>
            </a:r>
            <a:r>
              <a:rPr lang="ru-RU" dirty="0"/>
              <a:t>и вывели Россию из войны за несколько месяцев до победы Антанты. </a:t>
            </a:r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E57FCE-E7DB-45B7-8AF2-60D0F0F9C079}"/>
              </a:ext>
            </a:extLst>
          </p:cNvPr>
          <p:cNvSpPr txBox="1"/>
          <p:nvPr/>
        </p:nvSpPr>
        <p:spPr>
          <a:xfrm>
            <a:off x="1205267" y="5456903"/>
            <a:ext cx="4826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Революционные матросы </a:t>
            </a:r>
            <a:r>
              <a:rPr lang="ru-RU" dirty="0" err="1"/>
              <a:t>Гельсингфорса</a:t>
            </a:r>
            <a:r>
              <a:rPr lang="ru-RU" dirty="0"/>
              <a:t> в 1917 году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Брестский мир</a:t>
            </a:r>
          </a:p>
        </p:txBody>
      </p:sp>
      <p:pic>
        <p:nvPicPr>
          <p:cNvPr id="2" name="Объект 1">
            <a:extLst>
              <a:ext uri="{FF2B5EF4-FFF2-40B4-BE49-F238E27FC236}">
                <a16:creationId xmlns:a16="http://schemas.microsoft.com/office/drawing/2014/main" id="{325FB5E9-3198-49F1-B92A-AF24A17AAA8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85875" y="1825625"/>
            <a:ext cx="4628026" cy="4052094"/>
          </a:xfrm>
          <a:prstGeom prst="rect">
            <a:avLst/>
          </a:prstGeom>
        </p:spPr>
      </p:pic>
      <p:sp>
        <p:nvSpPr>
          <p:cNvPr id="7" name="Содержимое 6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3 марта 1918 года в </a:t>
            </a:r>
            <a:r>
              <a:rPr lang="ru-RU" dirty="0" err="1"/>
              <a:t>Брест-Литовске</a:t>
            </a:r>
            <a:r>
              <a:rPr lang="ru-RU" dirty="0"/>
              <a:t> большевики заключили сепаратный (отдельный от союзников) мир с Германией.</a:t>
            </a:r>
          </a:p>
          <a:p>
            <a:r>
              <a:rPr lang="ru-RU" dirty="0"/>
              <a:t>По условиям Брестского мира Россия согласилась отказаться от своих прав на территорию Польши, Прибалтики, Украины и части Белоруссии, а также, выплатить Германии контрибуцию в размере 6 млрд. марок. В сентябре 1918 года, за два месяца до поражения Германии, Ленин В.И. переправил в эту страну 93,5 тонн российского золота из золотого запаса страны.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Гибель империи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ru-RU" dirty="0"/>
              <a:t>Через несколько дней после Октябрьской революции в начале ноября 1917 года большевики приняли закон о  праве </a:t>
            </a:r>
            <a:r>
              <a:rPr lang="ru-RU" b="1" dirty="0"/>
              <a:t>наций на самоопределение, вплоть до отделения</a:t>
            </a:r>
            <a:r>
              <a:rPr lang="ru-RU" dirty="0"/>
              <a:t> и образования самостоятельного государства. Поэтому народы, населявшие Российскую империю, стали выходить из ее состава. Империя рухнула.</a:t>
            </a:r>
          </a:p>
          <a:p>
            <a:pPr>
              <a:buNone/>
            </a:pPr>
            <a:r>
              <a:rPr lang="ru-RU" dirty="0"/>
              <a:t>На территории бывшей империи началась Гражданская война, которая сопровождалась национализацией предприятий, продразверсткой, голодом и эмиграцией части населения.</a:t>
            </a:r>
          </a:p>
          <a:p>
            <a:pPr>
              <a:buNone/>
            </a:pPr>
            <a:r>
              <a:rPr lang="ru-RU" dirty="0"/>
              <a:t> 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077D206B-5518-4493-B57E-BC47E617045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84513" y="1825625"/>
            <a:ext cx="5811488" cy="30219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647</TotalTime>
  <Words>732</Words>
  <Application>Microsoft Office PowerPoint</Application>
  <PresentationFormat>Широкоэкранный</PresentationFormat>
  <Paragraphs>48</Paragraphs>
  <Slides>11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Гибель империи</vt:lpstr>
      <vt:lpstr>Россия в начале 20 века</vt:lpstr>
      <vt:lpstr>Социально-экономическая проблема империи</vt:lpstr>
      <vt:lpstr>Проблема государственного устройства и национальная проблема</vt:lpstr>
      <vt:lpstr>Первая русская революция  (1905 – 1907 годы)</vt:lpstr>
      <vt:lpstr>Первая мировая война (1914 – 1918 годы). Причина и повод</vt:lpstr>
      <vt:lpstr>Начало войны</vt:lpstr>
      <vt:lpstr>Россия в Первой мировой войне</vt:lpstr>
      <vt:lpstr>Россия в 1917 году</vt:lpstr>
      <vt:lpstr>Брестский мир</vt:lpstr>
      <vt:lpstr>Гибель империи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Гибель империи</dc:title>
  <dc:creator>Учетная запись Майкрософт</dc:creator>
  <cp:lastModifiedBy>borod</cp:lastModifiedBy>
  <cp:revision>68</cp:revision>
  <dcterms:created xsi:type="dcterms:W3CDTF">2024-08-23T21:40:02Z</dcterms:created>
  <dcterms:modified xsi:type="dcterms:W3CDTF">2026-10-06T10:54:23Z</dcterms:modified>
</cp:coreProperties>
</file>