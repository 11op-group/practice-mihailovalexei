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7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63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58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89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71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25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61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78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86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89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A0F50-9D66-4B67-8EAB-9C76012C1B3D}" type="datetimeFigureOut">
              <a:rPr lang="ru-RU" smtClean="0"/>
              <a:t>06.09.2024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90D53-7436-45BB-83AE-F1A5884A1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154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51314" y="1122363"/>
            <a:ext cx="8316686" cy="117089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Русь в </a:t>
            </a:r>
            <a:r>
              <a:rPr lang="ru-RU" sz="8000" b="1" dirty="0"/>
              <a:t>13</a:t>
            </a:r>
            <a:r>
              <a:rPr lang="ru-RU" b="1" dirty="0"/>
              <a:t> веке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Тринадцатый век оказался роковым для существования нашей страны. Это было время, когда </a:t>
            </a:r>
            <a:r>
              <a:rPr lang="ru-RU" b="1" dirty="0"/>
              <a:t>Русь могла исчезнуть с лица Земли, а население – раствориться среди других народов…</a:t>
            </a:r>
            <a:endParaRPr lang="ru-RU" dirty="0"/>
          </a:p>
        </p:txBody>
      </p:sp>
      <p:pic>
        <p:nvPicPr>
          <p:cNvPr id="4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348AC985-EF45-CBD0-AF6C-67AE88EADC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8806" y="66385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0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2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Двойная агрессия с Запада и Востока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В 1237 году над русскими княжествами нависла угроза нападения: </a:t>
            </a:r>
            <a:endParaRPr lang="ru-RU" dirty="0"/>
          </a:p>
          <a:p>
            <a:r>
              <a:rPr lang="ru-RU" b="1" dirty="0"/>
              <a:t>с Запада – крестоносцев, которых благословил папа римский Григорий </a:t>
            </a:r>
            <a:r>
              <a:rPr lang="en-US" b="1" dirty="0"/>
              <a:t>IX</a:t>
            </a:r>
            <a:r>
              <a:rPr lang="ru-RU" b="1" dirty="0"/>
              <a:t> на поход против Руси;</a:t>
            </a:r>
            <a:endParaRPr lang="ru-RU" dirty="0"/>
          </a:p>
          <a:p>
            <a:r>
              <a:rPr lang="ru-RU" b="1" dirty="0"/>
              <a:t>с Востока – кочевников монголо-татар, которые к 1237 году уже захватили и подчинили себе страны, лежащие на их пути…</a:t>
            </a:r>
            <a:endParaRPr lang="ru-RU" dirty="0"/>
          </a:p>
          <a:p>
            <a:endParaRPr lang="ru-RU" dirty="0"/>
          </a:p>
        </p:txBody>
      </p:sp>
      <p:pic>
        <p:nvPicPr>
          <p:cNvPr id="6146" name="Picture 2" descr="https://present5.com/presentation/118199405_437331881/image-5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8194"/>
            <a:ext cx="51816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C9668980-9E72-689E-A3CB-6EA80EAD16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2476" y="66992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0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59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Натиск с Востока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dirty="0"/>
              <a:t>1223г. – первое столкновение русских войск с монголо-татарами. </a:t>
            </a:r>
            <a:r>
              <a:rPr lang="ru-RU" b="1" dirty="0"/>
              <a:t>В битве на реке Калке</a:t>
            </a:r>
            <a:r>
              <a:rPr lang="ru-RU" dirty="0"/>
              <a:t> русские полки были разбиты. </a:t>
            </a:r>
          </a:p>
          <a:p>
            <a:pPr lvl="0"/>
            <a:r>
              <a:rPr lang="ru-RU" b="1" dirty="0"/>
              <a:t>1237г. (декабрь) – начало нашествия. Уничтожение Рязани ханом Батыем -</a:t>
            </a:r>
            <a:r>
              <a:rPr lang="ru-RU" dirty="0"/>
              <a:t>внуком Чингисхана.</a:t>
            </a:r>
          </a:p>
          <a:p>
            <a:pPr lvl="0"/>
            <a:r>
              <a:rPr lang="ru-RU" dirty="0"/>
              <a:t>1238г. (февраль) – взятие монголо-татарами столичного - Владимиро-Суздальского княжества.</a:t>
            </a:r>
          </a:p>
          <a:p>
            <a:pPr lvl="0"/>
            <a:r>
              <a:rPr lang="ru-RU" b="1" dirty="0"/>
              <a:t>1238г. (март) – сражение на реке Сити объединённых русских полков с монголами. Русские войска были разбиты. Великий князь Владимирский Юрий (Георгий) погиб.</a:t>
            </a:r>
            <a:endParaRPr lang="ru-RU" dirty="0"/>
          </a:p>
        </p:txBody>
      </p:sp>
      <p:pic>
        <p:nvPicPr>
          <p:cNvPr id="7170" name="Picture 2" descr="Picture background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343" y="1690688"/>
            <a:ext cx="3688784" cy="368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72343" y="5617029"/>
            <a:ext cx="3688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Монголо-татары</a:t>
            </a:r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B90F2695-29EF-9038-3014-4BF21432A4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4620" y="43244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0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Натиск с Востока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ru-RU" dirty="0"/>
              <a:t>1239г. – опустошение монголами земель Южной Руси.</a:t>
            </a:r>
          </a:p>
          <a:p>
            <a:pPr lvl="0"/>
            <a:r>
              <a:rPr lang="ru-RU" dirty="0"/>
              <a:t>1240 (декабрь) – осада и разгром Киева.</a:t>
            </a:r>
          </a:p>
          <a:p>
            <a:pPr lvl="0"/>
            <a:r>
              <a:rPr lang="ru-RU" b="1" dirty="0"/>
              <a:t>1243г. – создание монгольского государства Золотая Орда в центре Евразии.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 </a:t>
            </a:r>
            <a:endParaRPr lang="ru-RU" dirty="0"/>
          </a:p>
          <a:p>
            <a:r>
              <a:rPr lang="ru-RU" dirty="0"/>
              <a:t>Таким образом, </a:t>
            </a:r>
            <a:r>
              <a:rPr lang="ru-RU" b="1" dirty="0"/>
              <a:t>с 1237 года по 1480 год Русь оказалась под монголо-татарским игом, которое заключалось в двух признаках подчинения Орде: </a:t>
            </a:r>
            <a:endParaRPr lang="ru-RU" dirty="0"/>
          </a:p>
          <a:p>
            <a:r>
              <a:rPr lang="ru-RU" b="1" dirty="0"/>
              <a:t> – в выплате дани («выход» и «</a:t>
            </a:r>
            <a:r>
              <a:rPr lang="ru-RU" b="1" dirty="0" err="1"/>
              <a:t>поплужное</a:t>
            </a:r>
            <a:r>
              <a:rPr lang="ru-RU" b="1" dirty="0"/>
              <a:t>»)</a:t>
            </a:r>
            <a:endParaRPr lang="ru-RU" dirty="0"/>
          </a:p>
          <a:p>
            <a:r>
              <a:rPr lang="ru-RU" b="1" dirty="0"/>
              <a:t> – в получении </a:t>
            </a:r>
            <a:r>
              <a:rPr lang="ru-RU" b="1"/>
              <a:t>ярлыка русскими князьями </a:t>
            </a:r>
            <a:r>
              <a:rPr lang="ru-RU" b="1" dirty="0"/>
              <a:t>в Орде, для управления своими княжествами.</a:t>
            </a:r>
            <a:endParaRPr lang="ru-RU" dirty="0"/>
          </a:p>
          <a:p>
            <a:endParaRPr lang="ru-RU" dirty="0"/>
          </a:p>
        </p:txBody>
      </p:sp>
      <p:pic>
        <p:nvPicPr>
          <p:cNvPr id="5122" name="Picture 2" descr="https://avatars.dzeninfra.ru/get-zen_doc/4432928/pub_6221cd2465dbb723b278ff03_6222dd9322760a2fd05ec4e2/scale_1200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98" y="1952228"/>
            <a:ext cx="5627002" cy="3693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68998" y="5907598"/>
            <a:ext cx="562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Золотая Орда на карте</a:t>
            </a:r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0E6D921-ADB0-FCAD-61F0-73C93CB6F5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73498" y="60104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6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2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Последствия ига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ru-RU" b="1" dirty="0"/>
              <a:t>Было разрушено 49 городов </a:t>
            </a:r>
            <a:endParaRPr lang="ru-RU" dirty="0"/>
          </a:p>
          <a:p>
            <a:pPr lvl="0"/>
            <a:r>
              <a:rPr lang="ru-RU" dirty="0"/>
              <a:t>Полностью были истреблены жители Рязани, Козельска, Торжка, Владимира-Волынского и т.д.</a:t>
            </a:r>
          </a:p>
          <a:p>
            <a:pPr lvl="0"/>
            <a:r>
              <a:rPr lang="ru-RU" dirty="0"/>
              <a:t>Были забыты некоторые ремёсла.</a:t>
            </a:r>
          </a:p>
          <a:p>
            <a:pPr lvl="0"/>
            <a:r>
              <a:rPr lang="ru-RU" dirty="0"/>
              <a:t>Остановилось каменное зодчество.</a:t>
            </a:r>
          </a:p>
          <a:p>
            <a:pPr lvl="0"/>
            <a:r>
              <a:rPr lang="ru-RU" dirty="0"/>
              <a:t>Прервались связи с Западной Европой. </a:t>
            </a:r>
          </a:p>
          <a:p>
            <a:pPr lvl="0"/>
            <a:r>
              <a:rPr lang="ru-RU" dirty="0"/>
              <a:t>Установилась военно-тираническая форма правления. </a:t>
            </a:r>
          </a:p>
          <a:p>
            <a:pPr lvl="0"/>
            <a:r>
              <a:rPr lang="ru-RU" b="1" dirty="0"/>
              <a:t>Иго привело к расколу русской народности и потере юго-западных княжеств.</a:t>
            </a:r>
          </a:p>
          <a:p>
            <a:pPr lvl="0"/>
            <a:r>
              <a:rPr lang="ru-RU" b="1" dirty="0"/>
              <a:t>Наша страна была отброшена в своём развитии, не менее, чем на сто лет назад.</a:t>
            </a:r>
            <a:endParaRPr lang="ru-RU" dirty="0"/>
          </a:p>
          <a:p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38200" y="1941208"/>
            <a:ext cx="5181600" cy="298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52832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990600" y="54356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38629" y="5158601"/>
            <a:ext cx="5533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«Штурм Владимира войском хана Батыя</a:t>
            </a:r>
          </a:p>
          <a:p>
            <a:pPr algn="ctr"/>
            <a:r>
              <a:rPr lang="ru-RU" dirty="0"/>
              <a:t> 7 февраля 1238 года». Диорама. </a:t>
            </a:r>
            <a:r>
              <a:rPr lang="ru-RU" dirty="0" err="1"/>
              <a:t>Дешалыт</a:t>
            </a:r>
            <a:r>
              <a:rPr lang="ru-RU" dirty="0"/>
              <a:t> Е.И.</a:t>
            </a: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B9AA7DA1-D395-6EBB-9026-82666A2103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0600" y="51612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3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78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Натиск с Запада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1224 г. – крестоносцами взят Юрьев (сейчас - это эстонский город Тарту)</a:t>
            </a:r>
          </a:p>
          <a:p>
            <a:pPr lvl="0"/>
            <a:r>
              <a:rPr lang="ru-RU" dirty="0"/>
              <a:t>1237 г. – в Прибалтике образовался Ливонский орден крестоносцев, враждебно настроенный по отношению к Руси.</a:t>
            </a:r>
          </a:p>
        </p:txBody>
      </p:sp>
      <p:pic>
        <p:nvPicPr>
          <p:cNvPr id="3074" name="Picture 2" descr="https://i.pinimg.com/originals/7f/3a/48/7f3a48905102844834ff14f98f5e0fe1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499" y="1825625"/>
            <a:ext cx="2645680" cy="358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20686" y="5548766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Рыцарь-  крестоносец</a:t>
            </a:r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84B5456-F03F-2FD4-DB5C-66F213A284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" y="36734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3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72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Натиск с Запада </a:t>
            </a:r>
            <a:r>
              <a:rPr lang="ru-RU"/>
              <a:t>и новгородский </a:t>
            </a:r>
            <a:r>
              <a:rPr lang="ru-RU" dirty="0"/>
              <a:t>князь Александр Невский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ru-RU" b="1" dirty="0"/>
              <a:t>1240 г. – (15 июля) – Невская битва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Александр Ярославович – новгородский князь победил шведов на Неве, благодаря внезапности нападения.</a:t>
            </a:r>
          </a:p>
          <a:p>
            <a:r>
              <a:rPr lang="ru-RU" b="1" dirty="0"/>
              <a:t>1242г. (5 апреля) – Ледовое побоище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Александр Невский нанёс поражение немцам - крестоносцам на льду Чудского озера, благодаря тактике построения войск: «подкова» против немецкой «свиньи».</a:t>
            </a:r>
          </a:p>
        </p:txBody>
      </p:sp>
      <p:pic>
        <p:nvPicPr>
          <p:cNvPr id="1026" name="Picture 2" descr="https://shkolabogdashkinskayacherdaklinskij-r73.gosweb.gosuslugi.ru/netcat_files/45/254/2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12" y="1934937"/>
            <a:ext cx="5261387" cy="378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 flipH="1">
            <a:off x="758411" y="5994400"/>
            <a:ext cx="5261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Построение войск во время Ледового побоища</a:t>
            </a:r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9BE4B5B4-0C84-C8B5-AB7E-DDC2A40F7E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4518" y="49426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7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7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Внешняя политика Великого князя Александра Невского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После смерти своего отца Ярослава Всеволодовича Александр Невский стал  великим князем всея Руси (1252 – 1263гг.).  </a:t>
            </a:r>
          </a:p>
          <a:p>
            <a:r>
              <a:rPr lang="ru-RU" dirty="0"/>
              <a:t>Александр решительно боролся с Орденом, но шёл на соглашения с Ордой. Причиной такой политики было понимание того, что бороться одновременно с двумя врагами Россия не сможет. Поэтому Александр выбрал «меньшее зло»: монголов, которым важно было получить дань, наша культура и религия их не интересовала. Что касается крестоносцев, то они стремились запретить православную веру и  насадить </a:t>
            </a:r>
            <a:r>
              <a:rPr lang="ru-RU" b="1" dirty="0"/>
              <a:t>католичество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2052" name="Picture 4" descr="https://aif-s3.aif.ru/images/024/944/acb12e38011fd78eb8dedabffa40aeef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73968"/>
            <a:ext cx="5181600" cy="344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201" y="5936343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«Дружина в походе». Е. </a:t>
            </a:r>
            <a:r>
              <a:rPr lang="ru-RU"/>
              <a:t>Емельянов</a:t>
            </a:r>
            <a:endParaRPr lang="ru-RU" dirty="0"/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9AC3C237-41A1-A81D-7436-336B2F5700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" y="52500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1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2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3040</TotalTime>
  <Words>559</Words>
  <Application>Microsoft Office PowerPoint</Application>
  <PresentationFormat>Широкоэкранный</PresentationFormat>
  <Paragraphs>46</Paragraphs>
  <Slides>8</Slides>
  <Notes>0</Notes>
  <HiddenSlides>0</HiddenSlides>
  <MMClips>8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Русь в 13 веке</vt:lpstr>
      <vt:lpstr>Двойная агрессия с Запада и Востока</vt:lpstr>
      <vt:lpstr>Натиск с Востока</vt:lpstr>
      <vt:lpstr>Натиск с Востока</vt:lpstr>
      <vt:lpstr>Последствия ига</vt:lpstr>
      <vt:lpstr>Натиск с Запада</vt:lpstr>
      <vt:lpstr>Натиск с Запада и новгородский князь Александр Невский</vt:lpstr>
      <vt:lpstr>Внешняя политика Великого князя Александра Невского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Русь в 13 веке</dc:title>
  <dc:creator>Учетная запись Майкрософт</dc:creator>
  <cp:lastModifiedBy>Екатерина Бородачева</cp:lastModifiedBy>
  <cp:revision>46</cp:revision>
  <dcterms:created xsi:type="dcterms:W3CDTF">2024-07-04T19:18:18Z</dcterms:created>
  <dcterms:modified xsi:type="dcterms:W3CDTF">2024-09-06T19:04:02Z</dcterms:modified>
</cp:coreProperties>
</file>