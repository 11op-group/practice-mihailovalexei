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823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96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48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35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630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2805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26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7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76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09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62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4200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888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25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904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4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07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059D1BB-2AC8-42E9-A049-2D929189B1B6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867E98F-48DB-4511-B5FF-086BA243C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73256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609599"/>
            <a:ext cx="10625062" cy="1277257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tabLst>
                <a:tab pos="4114800" algn="l"/>
              </a:tabLst>
            </a:pP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Смутное время (1598 – 1613 годы)</a:t>
            </a:r>
            <a:b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000" b="1" dirty="0">
                <a:effectLst/>
              </a:rPr>
              <a:t>Смутным временем называют исторический период между двумя династиями: Рюриковичей и Романовых. </a:t>
            </a:r>
            <a:endParaRPr lang="ru-RU" sz="3000" dirty="0">
              <a:effectLst/>
            </a:endParaRPr>
          </a:p>
          <a:p>
            <a:r>
              <a:rPr lang="ru-RU" sz="3000" b="1" dirty="0">
                <a:effectLst/>
              </a:rPr>
              <a:t>Смута сопровождалась голодом, сменой правительства, гражданской войной, иностранным вторжением и стремлением Речи </a:t>
            </a:r>
            <a:r>
              <a:rPr lang="ru-RU" sz="3000" b="1" dirty="0" err="1">
                <a:effectLst/>
              </a:rPr>
              <a:t>Посполитой</a:t>
            </a:r>
            <a:r>
              <a:rPr lang="ru-RU" sz="3000" b="1" dirty="0">
                <a:effectLst/>
              </a:rPr>
              <a:t> захватить московский трон.</a:t>
            </a:r>
            <a:endParaRPr lang="ru-RU" sz="3000" dirty="0">
              <a:effectLst/>
            </a:endParaRPr>
          </a:p>
          <a:p>
            <a:endParaRPr lang="ru-RU" dirty="0"/>
          </a:p>
        </p:txBody>
      </p:sp>
      <p:pic>
        <p:nvPicPr>
          <p:cNvPr id="4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3168E856-ECD6-5100-6E82-D8D1D7E4AB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641" y="60959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6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9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Смуты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>
                <a:effectLst/>
              </a:rPr>
              <a:t>1. Прекращение династии Рюриковичей </a:t>
            </a:r>
            <a:r>
              <a:rPr lang="ru-RU" dirty="0">
                <a:effectLst/>
              </a:rPr>
              <a:t>со смертью взрослых сыновей Ивана Грозного, </a:t>
            </a:r>
            <a:r>
              <a:rPr lang="ru-RU" b="1" dirty="0">
                <a:effectLst/>
              </a:rPr>
              <a:t>а также в результате гибели его младшего сына – царевича Дмитрия.</a:t>
            </a:r>
          </a:p>
          <a:p>
            <a:r>
              <a:rPr lang="ru-RU" b="1" dirty="0">
                <a:effectLst/>
              </a:rPr>
              <a:t>Великий голод 1601-1603 годов.</a:t>
            </a:r>
          </a:p>
          <a:p>
            <a:r>
              <a:rPr lang="ru-RU" b="1" dirty="0">
                <a:effectLst/>
              </a:rPr>
              <a:t>Идея о Божьем наказании за то, что на Земском Соборе люди выбрали царем Бориса Годунова, зная, что он может быть повинен в смерти царевича Дмитрия.</a:t>
            </a:r>
            <a:endParaRPr lang="ru-RU" dirty="0">
              <a:effectLst/>
            </a:endParaRPr>
          </a:p>
          <a:p>
            <a:r>
              <a:rPr lang="ru-RU" b="1" dirty="0">
                <a:effectLst/>
              </a:rPr>
              <a:t> </a:t>
            </a:r>
            <a:endParaRPr lang="ru-RU" dirty="0">
              <a:effectLst/>
            </a:endParaRPr>
          </a:p>
          <a:p>
            <a:endParaRPr lang="ru-RU" dirty="0"/>
          </a:p>
        </p:txBody>
      </p:sp>
      <p:pic>
        <p:nvPicPr>
          <p:cNvPr id="1026" name="Picture 2" descr="https://rounb.ru/image.php?image=/uploads/news/slider/14385/3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832" y="1731963"/>
            <a:ext cx="3734498" cy="405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76832" y="6110515"/>
            <a:ext cx="3734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«Царевич Дмитрий» С. Блинков.</a:t>
            </a:r>
          </a:p>
        </p:txBody>
      </p:sp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D40DA540-0857-5412-815F-9210108001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48117" y="56390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52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Правление Бориса Годунова (1598-1605 годы)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sz="2200" b="1" dirty="0">
                <a:effectLst/>
              </a:rPr>
              <a:t>Борис Годунов был  избран на трон после смерти Федора - среднего сына Ивана Грозного.</a:t>
            </a:r>
          </a:p>
          <a:p>
            <a:r>
              <a:rPr lang="ru-RU" sz="2200" dirty="0">
                <a:effectLst/>
              </a:rPr>
              <a:t>Укрепление экономики, оживление строительства и торговли, успехи во внешней политике были прерваны страшным голодом 1601-1603 годов, беспорядками и нежеланием видеть Годуновых на троне. </a:t>
            </a:r>
          </a:p>
          <a:p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2307771" y="1731964"/>
            <a:ext cx="2720402" cy="34855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30400" y="5515429"/>
            <a:ext cx="3686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Парсуна с изображением</a:t>
            </a:r>
          </a:p>
          <a:p>
            <a:pPr algn="ctr"/>
            <a:r>
              <a:rPr lang="ru-RU" dirty="0"/>
              <a:t> Бориса Годунова</a:t>
            </a:r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67E5A6BB-720C-CFB7-11B3-18EBCD0226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7168" y="36591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1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6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/>
            <a:r>
              <a:rPr lang="ru-RU" dirty="0"/>
              <a:t> </a:t>
            </a:r>
            <a:r>
              <a:rPr lang="ru-RU" sz="3090" b="1" dirty="0"/>
              <a:t> </a:t>
            </a:r>
            <a:r>
              <a:rPr lang="ru-RU" sz="3300" b="1" dirty="0"/>
              <a:t>Правление Лжедмитрия </a:t>
            </a:r>
            <a:r>
              <a:rPr lang="en-US" sz="3300" b="1" dirty="0"/>
              <a:t>I</a:t>
            </a:r>
            <a:r>
              <a:rPr lang="ru-RU" sz="3300" b="1" dirty="0"/>
              <a:t> (1.06.1605-17.05.1606)</a:t>
            </a:r>
            <a:endParaRPr lang="ru-RU" sz="3300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2402023" y="1732449"/>
            <a:ext cx="2540182" cy="3594780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400" b="1" dirty="0"/>
              <a:t>Лжедмитрий </a:t>
            </a:r>
            <a:r>
              <a:rPr lang="en-US" sz="2400" b="1" dirty="0"/>
              <a:t>I </a:t>
            </a:r>
            <a:r>
              <a:rPr lang="ru-RU" sz="2400" dirty="0">
                <a:effectLst/>
              </a:rPr>
              <a:t>при поддержке польского короля Сигизмунда </a:t>
            </a:r>
            <a:r>
              <a:rPr lang="en-US" sz="2400" dirty="0">
                <a:effectLst/>
              </a:rPr>
              <a:t>III</a:t>
            </a:r>
            <a:r>
              <a:rPr lang="ru-RU" sz="2400" dirty="0">
                <a:effectLst/>
              </a:rPr>
              <a:t> вошел в  Москву с двумя тысячами наёмников, с крестьянами и казаками юга России.</a:t>
            </a:r>
          </a:p>
          <a:p>
            <a:r>
              <a:rPr lang="ru-RU" sz="2400" dirty="0">
                <a:effectLst/>
              </a:rPr>
              <a:t>Самозванец</a:t>
            </a:r>
            <a:r>
              <a:rPr lang="ru-RU" sz="2400" b="1" dirty="0">
                <a:effectLst/>
              </a:rPr>
              <a:t> стал царём Дмитрием Ивановичем. Но в 1606 году, </a:t>
            </a:r>
            <a:r>
              <a:rPr lang="ru-RU" sz="2400" dirty="0">
                <a:effectLst/>
              </a:rPr>
              <a:t>на следующий день после своей свадьбы с Мариной Мнишек</a:t>
            </a:r>
            <a:r>
              <a:rPr lang="ru-RU" sz="2400" b="1" dirty="0">
                <a:effectLst/>
              </a:rPr>
              <a:t>, Лжедмитрий </a:t>
            </a:r>
            <a:r>
              <a:rPr lang="en-US" sz="2400" b="1" dirty="0">
                <a:effectLst/>
              </a:rPr>
              <a:t>I </a:t>
            </a:r>
            <a:r>
              <a:rPr lang="ru-RU" sz="2400" b="1" dirty="0">
                <a:effectLst/>
              </a:rPr>
              <a:t>был убит в результате боярского заговора.</a:t>
            </a:r>
            <a:endParaRPr lang="ru-RU" sz="2400" dirty="0">
              <a:effectLst/>
            </a:endParaRPr>
          </a:p>
          <a:p>
            <a:r>
              <a:rPr lang="ru-RU" sz="2200" b="1" dirty="0">
                <a:effectLst/>
              </a:rPr>
              <a:t> </a:t>
            </a:r>
            <a:endParaRPr lang="ru-RU" sz="2200" dirty="0">
              <a:effectLst/>
            </a:endParaRPr>
          </a:p>
          <a:p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57829" y="5588000"/>
            <a:ext cx="362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Лжедмитрий </a:t>
            </a:r>
            <a:r>
              <a:rPr lang="en-US" dirty="0"/>
              <a:t>I</a:t>
            </a:r>
            <a:endParaRPr lang="ru-RU" dirty="0"/>
          </a:p>
        </p:txBody>
      </p:sp>
      <p:pic>
        <p:nvPicPr>
          <p:cNvPr id="6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84C3DA87-A833-7145-A632-A18496C1B9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0113" y="36591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8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37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400" b="1" dirty="0">
                <a:effectLst/>
              </a:rPr>
              <a:t>Правление Василия Шуйского  (1606-1610годы)</a:t>
            </a:r>
            <a:endParaRPr lang="ru-RU" sz="340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>
                <a:effectLst/>
              </a:rPr>
              <a:t>Следующим царём был назначен организатор заговора – боярин Василий Шуйский, </a:t>
            </a:r>
            <a:r>
              <a:rPr lang="ru-RU" sz="2300" dirty="0">
                <a:effectLst/>
              </a:rPr>
              <a:t>которому пришлось противостоять еще двум ставленникам Польши: Ивану Болотникову и Лжедмитрию </a:t>
            </a:r>
            <a:r>
              <a:rPr lang="en-US" sz="2300" dirty="0">
                <a:effectLst/>
              </a:rPr>
              <a:t>II</a:t>
            </a:r>
            <a:r>
              <a:rPr lang="ru-RU" sz="2300" dirty="0">
                <a:effectLst/>
              </a:rPr>
              <a:t> – Тушинскому вору.</a:t>
            </a:r>
          </a:p>
          <a:p>
            <a:r>
              <a:rPr lang="ru-RU" b="1" dirty="0">
                <a:effectLst/>
              </a:rPr>
              <a:t>Политика Шуйского привела к оккупации шведами новгородских земель и к осаде поляками Смоленска</a:t>
            </a:r>
            <a:r>
              <a:rPr lang="ru-RU" dirty="0">
                <a:effectLst/>
              </a:rPr>
              <a:t>.</a:t>
            </a:r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2171356" y="1731964"/>
            <a:ext cx="2809146" cy="37108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71357" y="5791200"/>
            <a:ext cx="2705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Портрет Василия </a:t>
            </a:r>
            <a:r>
              <a:rPr lang="en-US" dirty="0"/>
              <a:t>IV </a:t>
            </a:r>
            <a:r>
              <a:rPr lang="ru-RU" dirty="0"/>
              <a:t>Ивановича Шуйского.</a:t>
            </a:r>
          </a:p>
        </p:txBody>
      </p:sp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4875C2A7-418D-5999-9730-19271773F7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8189" y="36591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3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6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грани катастрофы…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451429" y="1731964"/>
            <a:ext cx="4306926" cy="3777174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Осенью 1611г. Россия находилась на грани национальной катастрофы: Смоленск был занят поляками. Новгород оккупирован шведами. Под Москвой оставались Тушинские шайки (сам Лжедмитрий </a:t>
            </a:r>
            <a:r>
              <a:rPr lang="en-US" b="1" dirty="0">
                <a:effectLst/>
              </a:rPr>
              <a:t>II</a:t>
            </a:r>
            <a:r>
              <a:rPr lang="ru-RU" b="1" dirty="0">
                <a:effectLst/>
              </a:rPr>
              <a:t> был убит своим слугой 11 ноября 1610г.).</a:t>
            </a:r>
          </a:p>
          <a:p>
            <a:r>
              <a:rPr lang="ru-RU" b="1" dirty="0">
                <a:effectLst/>
              </a:rPr>
              <a:t>Шведы предлагали на русский трон королевича Карла-Филиппа, поляки – королевича Владислава.</a:t>
            </a:r>
          </a:p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129808" y="5509139"/>
            <a:ext cx="5073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Шведско-польская оккупация</a:t>
            </a:r>
          </a:p>
          <a:p>
            <a:pPr algn="ctr"/>
            <a:r>
              <a:rPr lang="ru-RU" dirty="0"/>
              <a:t> начала 17 века.</a:t>
            </a:r>
          </a:p>
        </p:txBody>
      </p:sp>
      <p:pic>
        <p:nvPicPr>
          <p:cNvPr id="6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0832F573-EBD3-2E2B-70DF-203505F7DE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86126" y="45884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8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5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638629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Правление семибоярщины (1610-1611годы)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959162" y="1731964"/>
            <a:ext cx="3109228" cy="3885066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>
                <a:effectLst/>
              </a:rPr>
              <a:t>Боярская Дума сместила царя Василия Шуйского </a:t>
            </a:r>
            <a:r>
              <a:rPr lang="ru-RU" b="1">
                <a:effectLst/>
              </a:rPr>
              <a:t>и начала </a:t>
            </a:r>
            <a:r>
              <a:rPr lang="ru-RU" b="1" dirty="0">
                <a:effectLst/>
              </a:rPr>
              <a:t>управлять страной сообща.</a:t>
            </a:r>
          </a:p>
          <a:p>
            <a:r>
              <a:rPr lang="ru-RU" dirty="0">
                <a:effectLst/>
              </a:rPr>
              <a:t>Положение было отчаянным, и </a:t>
            </a:r>
            <a:r>
              <a:rPr lang="ru-RU" b="1" dirty="0">
                <a:effectLst/>
              </a:rPr>
              <a:t>бояре решили примириться с Речью </a:t>
            </a:r>
            <a:r>
              <a:rPr lang="ru-RU" b="1" dirty="0" err="1">
                <a:effectLst/>
              </a:rPr>
              <a:t>Посполитой</a:t>
            </a:r>
            <a:r>
              <a:rPr lang="ru-RU" b="1" dirty="0">
                <a:effectLst/>
              </a:rPr>
              <a:t>, посадив на русский трон польского королевича Владислава, сына Сигизмунда </a:t>
            </a:r>
            <a:r>
              <a:rPr lang="en-US" b="1" dirty="0">
                <a:effectLst/>
              </a:rPr>
              <a:t>III</a:t>
            </a:r>
            <a:r>
              <a:rPr lang="ru-RU" b="1" dirty="0">
                <a:effectLst/>
              </a:rPr>
              <a:t>.</a:t>
            </a:r>
          </a:p>
          <a:p>
            <a:r>
              <a:rPr lang="ru-RU" dirty="0">
                <a:effectLst/>
              </a:rPr>
              <a:t>Бояре впустили польский отряд в Москву</a:t>
            </a:r>
            <a:r>
              <a:rPr lang="ru-RU" b="1" dirty="0">
                <a:effectLst/>
              </a:rPr>
              <a:t>, но патриарх </a:t>
            </a:r>
            <a:r>
              <a:rPr lang="ru-RU" b="1" dirty="0" err="1">
                <a:effectLst/>
              </a:rPr>
              <a:t>Гермоген</a:t>
            </a:r>
            <a:r>
              <a:rPr lang="ru-RU" b="1" dirty="0">
                <a:effectLst/>
              </a:rPr>
              <a:t> отказался сотрудничать с поляками, </a:t>
            </a:r>
            <a:r>
              <a:rPr lang="ru-RU" dirty="0">
                <a:effectLst/>
              </a:rPr>
              <a:t>и был заключен в тюрьму</a:t>
            </a:r>
            <a:r>
              <a:rPr lang="ru-RU" b="1" dirty="0">
                <a:effectLst/>
              </a:rPr>
              <a:t>. Патриарх стал писать грамоты -  обращения к народу с призывом освободить Москву от интервентов.  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959163" y="5791200"/>
            <a:ext cx="310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Патриарх </a:t>
            </a:r>
            <a:r>
              <a:rPr lang="ru-RU" dirty="0" err="1"/>
              <a:t>Гермоген</a:t>
            </a:r>
            <a:endParaRPr lang="ru-RU" dirty="0"/>
          </a:p>
        </p:txBody>
      </p:sp>
      <p:pic>
        <p:nvPicPr>
          <p:cNvPr id="6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EAEB182A-8313-5B99-2BB3-04B64C6C99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2678" y="51525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2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23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130629"/>
            <a:ext cx="10353762" cy="1449421"/>
          </a:xfrm>
        </p:spPr>
        <p:txBody>
          <a:bodyPr>
            <a:normAutofit/>
          </a:bodyPr>
          <a:lstStyle/>
          <a:p>
            <a:r>
              <a:rPr lang="ru-RU" sz="3700" b="1" dirty="0">
                <a:effectLst/>
              </a:rPr>
              <a:t>Освобождение Москвы ополчением Минина и Пожарского 4.11.1612 г.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914400" y="1864320"/>
            <a:ext cx="5059363" cy="3794522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Г</a:t>
            </a:r>
            <a:r>
              <a:rPr lang="ru-RU" b="1" dirty="0">
                <a:effectLst/>
              </a:rPr>
              <a:t>рамоту </a:t>
            </a:r>
            <a:r>
              <a:rPr lang="ru-RU" b="1" dirty="0" err="1">
                <a:effectLst/>
              </a:rPr>
              <a:t>Гермогена</a:t>
            </a:r>
            <a:r>
              <a:rPr lang="ru-RU" b="1" dirty="0">
                <a:effectLst/>
              </a:rPr>
              <a:t> получают жители Нижнего Новгорода в октябре 1611года.</a:t>
            </a:r>
          </a:p>
          <a:p>
            <a:r>
              <a:rPr lang="ru-RU" b="1" dirty="0">
                <a:effectLst/>
              </a:rPr>
              <a:t> Собирается второе ополчение Кузьмы Минина и Дмитрия Пожарского и освобождает Москву от интервентов. Начало освобождения – 4 ноября 1612 года.</a:t>
            </a:r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913795" y="6096000"/>
            <a:ext cx="5059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Памятник Минину и Пожарскому. И. </a:t>
            </a:r>
            <a:r>
              <a:rPr lang="ru-RU" dirty="0" err="1"/>
              <a:t>Мартос</a:t>
            </a:r>
            <a:r>
              <a:rPr lang="ru-RU" dirty="0"/>
              <a:t>.</a:t>
            </a:r>
          </a:p>
        </p:txBody>
      </p:sp>
      <p:pic>
        <p:nvPicPr>
          <p:cNvPr id="6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FDC69AEE-5599-1E50-E594-F6826BCEBB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5226" y="41458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7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3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Окончание Смуты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>
                <a:effectLst/>
              </a:rPr>
              <a:t>Смута закончилась в 1613 году избранием на царство Земским собором шестнадцатилетнего Михаила Фёдоровича Романова, сына митрополита Филарета</a:t>
            </a:r>
            <a:r>
              <a:rPr lang="ru-RU" dirty="0">
                <a:effectLst/>
              </a:rPr>
              <a:t>.</a:t>
            </a:r>
          </a:p>
          <a:p>
            <a:r>
              <a:rPr lang="ru-RU" dirty="0">
                <a:effectLst/>
              </a:rPr>
              <a:t> </a:t>
            </a:r>
          </a:p>
          <a:p>
            <a:r>
              <a:rPr lang="ru-RU" b="1" dirty="0">
                <a:effectLst/>
              </a:rPr>
              <a:t>При заключении </a:t>
            </a:r>
            <a:r>
              <a:rPr lang="ru-RU" b="1" dirty="0" err="1">
                <a:effectLst/>
              </a:rPr>
              <a:t>Столбовского</a:t>
            </a:r>
            <a:r>
              <a:rPr lang="ru-RU" b="1" dirty="0">
                <a:effectLst/>
              </a:rPr>
              <a:t> мира со Швецией в 1617году Невские земли отошли Швеции, вплоть до 1703г.</a:t>
            </a:r>
            <a:endParaRPr lang="ru-RU" dirty="0">
              <a:effectLst/>
            </a:endParaRPr>
          </a:p>
          <a:p>
            <a:r>
              <a:rPr lang="ru-RU" dirty="0">
                <a:effectLst/>
              </a:rPr>
              <a:t> </a:t>
            </a:r>
          </a:p>
          <a:p>
            <a:r>
              <a:rPr lang="ru-RU" b="1" dirty="0">
                <a:effectLst/>
              </a:rPr>
              <a:t> При заключении </a:t>
            </a:r>
            <a:r>
              <a:rPr lang="ru-RU" b="1" dirty="0" err="1">
                <a:effectLst/>
              </a:rPr>
              <a:t>Деулинского</a:t>
            </a:r>
            <a:r>
              <a:rPr lang="ru-RU" b="1" dirty="0">
                <a:effectLst/>
              </a:rPr>
              <a:t> перемирия с Польшей в 1618 году Россия потеряла Смоленск и Чернигов…</a:t>
            </a:r>
            <a:endParaRPr lang="ru-RU" dirty="0">
              <a:effectLst/>
            </a:endParaRPr>
          </a:p>
          <a:p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914400" y="1895941"/>
            <a:ext cx="5059363" cy="3731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flipH="1">
            <a:off x="959514" y="5791200"/>
            <a:ext cx="501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«Избрание Михаила Федоровича Романова на царство» А. </a:t>
            </a:r>
            <a:r>
              <a:rPr lang="ru-RU" dirty="0" err="1"/>
              <a:t>Кившенко</a:t>
            </a:r>
            <a:r>
              <a:rPr lang="ru-RU" dirty="0"/>
              <a:t>.</a:t>
            </a:r>
          </a:p>
        </p:txBody>
      </p:sp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862E20B0-6F51-82F9-EE54-4D358ED589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5832" y="47717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6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19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рифель">
  <a:themeElements>
    <a:clrScheme name="Грифель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Грифель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ифель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</TotalTime>
  <Words>542</Words>
  <Application>Microsoft Office PowerPoint</Application>
  <PresentationFormat>Широкоэкранный</PresentationFormat>
  <Paragraphs>44</Paragraphs>
  <Slides>9</Slides>
  <Notes>0</Notes>
  <HiddenSlides>0</HiddenSlides>
  <MMClips>9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Calisto MT</vt:lpstr>
      <vt:lpstr>Times New Roman</vt:lpstr>
      <vt:lpstr>Wingdings 2</vt:lpstr>
      <vt:lpstr>Грифель</vt:lpstr>
      <vt:lpstr>Смутное время (1598 – 1613 годы)  </vt:lpstr>
      <vt:lpstr>Причины Смуты</vt:lpstr>
      <vt:lpstr>Правление Бориса Годунова (1598-1605 годы)</vt:lpstr>
      <vt:lpstr>  Правление Лжедмитрия I (1.06.1605-17.05.1606)</vt:lpstr>
      <vt:lpstr>Правление Василия Шуйского  (1606-1610годы)</vt:lpstr>
      <vt:lpstr>На грани катастрофы…</vt:lpstr>
      <vt:lpstr>Правление семибоярщины (1610-1611годы)</vt:lpstr>
      <vt:lpstr>Освобождение Москвы ополчением Минина и Пожарского 4.11.1612 г.</vt:lpstr>
      <vt:lpstr>Окончание Смуты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Смутное время (1598 – 1613 годы)  </dc:title>
  <dc:creator>Учетная запись Майкрософт</dc:creator>
  <cp:lastModifiedBy>Екатерина Бородачева</cp:lastModifiedBy>
  <cp:revision>70</cp:revision>
  <dcterms:created xsi:type="dcterms:W3CDTF">2024-07-07T22:37:09Z</dcterms:created>
  <dcterms:modified xsi:type="dcterms:W3CDTF">2024-09-06T19:37:37Z</dcterms:modified>
</cp:coreProperties>
</file>