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667-D785-4040-B427-CFDFC8BF7017}" type="datetimeFigureOut">
              <a:rPr lang="ru-RU" smtClean="0"/>
              <a:t>29.08.2026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7D86-95FB-490B-90DA-D7334AAFC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391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667-D785-4040-B427-CFDFC8BF7017}" type="datetimeFigureOut">
              <a:rPr lang="ru-RU" smtClean="0"/>
              <a:t>29.08.2026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7D86-95FB-490B-90DA-D7334AAFC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04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667-D785-4040-B427-CFDFC8BF7017}" type="datetimeFigureOut">
              <a:rPr lang="ru-RU" smtClean="0"/>
              <a:t>29.08.2026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7D86-95FB-490B-90DA-D7334AAFC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10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667-D785-4040-B427-CFDFC8BF7017}" type="datetimeFigureOut">
              <a:rPr lang="ru-RU" smtClean="0"/>
              <a:t>29.08.2026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7D86-95FB-490B-90DA-D7334AAFC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93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667-D785-4040-B427-CFDFC8BF7017}" type="datetimeFigureOut">
              <a:rPr lang="ru-RU" smtClean="0"/>
              <a:t>29.08.2026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7D86-95FB-490B-90DA-D7334AAFC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50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667-D785-4040-B427-CFDFC8BF7017}" type="datetimeFigureOut">
              <a:rPr lang="ru-RU" smtClean="0"/>
              <a:t>29.08.2026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7D86-95FB-490B-90DA-D7334AAFC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4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667-D785-4040-B427-CFDFC8BF7017}" type="datetimeFigureOut">
              <a:rPr lang="ru-RU" smtClean="0"/>
              <a:t>29.08.2026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7D86-95FB-490B-90DA-D7334AAFC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920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667-D785-4040-B427-CFDFC8BF7017}" type="datetimeFigureOut">
              <a:rPr lang="ru-RU" smtClean="0"/>
              <a:t>29.08.2026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7D86-95FB-490B-90DA-D7334AAFC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648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667-D785-4040-B427-CFDFC8BF7017}" type="datetimeFigureOut">
              <a:rPr lang="ru-RU" smtClean="0"/>
              <a:t>29.08.2026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7D86-95FB-490B-90DA-D7334AAFC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318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667-D785-4040-B427-CFDFC8BF7017}" type="datetimeFigureOut">
              <a:rPr lang="ru-RU" smtClean="0"/>
              <a:t>29.08.2026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7D86-95FB-490B-90DA-D7334AAFC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64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667-D785-4040-B427-CFDFC8BF7017}" type="datetimeFigureOut">
              <a:rPr lang="ru-RU" smtClean="0"/>
              <a:t>29.08.2026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27D86-95FB-490B-90DA-D7334AAFC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0326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2D667-D785-4040-B427-CFDFC8BF7017}" type="datetimeFigureOut">
              <a:rPr lang="ru-RU" smtClean="0"/>
              <a:t>29.08.2026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27D86-95FB-490B-90DA-D7334AAFC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1422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88E61-64D1-45FB-9A6E-4B370DC48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</a:rPr>
              <a:t>Образование Древнерусского государства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05C45A-DE95-4275-803C-151971869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b="1" dirty="0"/>
          </a:p>
          <a:p>
            <a:pPr marL="0" indent="0" algn="ctr">
              <a:buNone/>
            </a:pPr>
            <a:endParaRPr lang="ru-RU" b="1" dirty="0"/>
          </a:p>
          <a:p>
            <a:pPr marL="0" indent="0" algn="ctr">
              <a:buNone/>
            </a:pPr>
            <a:r>
              <a:rPr lang="ru-RU" b="1" dirty="0"/>
              <a:t>Письменный источник: «Повесть временных лет», составленная монахом </a:t>
            </a:r>
            <a:r>
              <a:rPr lang="ru-RU" b="1" dirty="0" err="1"/>
              <a:t>Киево</a:t>
            </a:r>
            <a:r>
              <a:rPr lang="ru-RU" b="1" dirty="0"/>
              <a:t>-Печёрского монастыря Нестором в </a:t>
            </a:r>
            <a:r>
              <a:rPr lang="en-US" b="1" dirty="0"/>
              <a:t>XII</a:t>
            </a:r>
            <a:r>
              <a:rPr lang="ru-RU" b="1" dirty="0"/>
              <a:t> веке (1113год)</a:t>
            </a:r>
            <a:endParaRPr lang="ru-RU" dirty="0"/>
          </a:p>
          <a:p>
            <a:endParaRPr lang="ru-RU" dirty="0"/>
          </a:p>
        </p:txBody>
      </p:sp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E7C21436-BA66-4EE2-97BF-338025E77F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3400" y="489400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E7237F-9C5B-471C-A524-B2F360E9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</a:rPr>
              <a:t>Славяне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E16914-3F0F-485C-B3B7-295796C122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 </a:t>
            </a:r>
            <a:r>
              <a:rPr lang="ru-RU" dirty="0"/>
              <a:t>Европа стала осваиваться человеком современного типа около 35 тысяч лет назад. </a:t>
            </a:r>
          </a:p>
          <a:p>
            <a:r>
              <a:rPr lang="ru-RU" dirty="0"/>
              <a:t>Во втором тысячелетии до н.э. Европу уже заселили индоевропейские племена.</a:t>
            </a:r>
          </a:p>
          <a:p>
            <a:r>
              <a:rPr lang="ru-RU" dirty="0"/>
              <a:t> В начале нашей эры из индоевропейской общности выделились </a:t>
            </a:r>
            <a:r>
              <a:rPr lang="ru-RU" b="1" dirty="0"/>
              <a:t>славянские племена. </a:t>
            </a:r>
          </a:p>
          <a:p>
            <a:r>
              <a:rPr lang="ru-RU" dirty="0"/>
              <a:t>Известно, что в 6 в. н.э. славяне жили в Центральной Европе, в области Карпат.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3074" name="Picture 2" descr="https://upload.wikimedia.org/wikipedia/commons/thumb/a/a1/Balto-Slavic_lng.png/250px-Balto-Slavic_lng.png?utm_source=ru.wikipedia.org&amp;utm_campaign=parser&amp;utm_content=thumbnail">
            <a:extLst>
              <a:ext uri="{FF2B5EF4-FFF2-40B4-BE49-F238E27FC236}">
                <a16:creationId xmlns:a16="http://schemas.microsoft.com/office/drawing/2014/main" id="{73924CE4-096F-4271-BEE1-C71E7E2DE46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04" y="1932838"/>
            <a:ext cx="5044450" cy="383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3A790D93-D714-4D74-98F0-4B17D63D72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42219" y="78658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53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95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1A4E0-5373-4C8C-84D2-CB0E97E13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</a:rPr>
              <a:t>Расселение славян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C12FFE-6119-407C-AE68-9292FF245A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latin typeface="Times New Roman" panose="02020603050405020304" pitchFamily="18" charset="0"/>
              </a:rPr>
              <a:t>К </a:t>
            </a:r>
            <a:r>
              <a:rPr lang="en-US" dirty="0">
                <a:latin typeface="Times New Roman" panose="02020603050405020304" pitchFamily="18" charset="0"/>
              </a:rPr>
              <a:t>VIII</a:t>
            </a:r>
            <a:r>
              <a:rPr lang="ru-RU" dirty="0">
                <a:latin typeface="Times New Roman" panose="02020603050405020304" pitchFamily="18" charset="0"/>
              </a:rPr>
              <a:t> веку н.э. часть славян заселила территорию Восточной Европы, где их соседями становились местные финно-угорские племена.  Славяне селились по берегам рек, соединяющих Варяжское (Балтийское) и Черное море</a:t>
            </a:r>
            <a:r>
              <a:rPr lang="ru-RU" b="1" dirty="0">
                <a:latin typeface="Times New Roman" panose="02020603050405020304" pitchFamily="18" charset="0"/>
              </a:rPr>
              <a:t>.</a:t>
            </a:r>
          </a:p>
          <a:p>
            <a:r>
              <a:rPr lang="ru-RU" dirty="0">
                <a:latin typeface="Times New Roman" panose="02020603050405020304" pitchFamily="18" charset="0"/>
              </a:rPr>
              <a:t>К </a:t>
            </a:r>
            <a:r>
              <a:rPr lang="en-US" dirty="0">
                <a:latin typeface="Times New Roman" panose="02020603050405020304" pitchFamily="18" charset="0"/>
              </a:rPr>
              <a:t>IX</a:t>
            </a:r>
            <a:r>
              <a:rPr lang="ru-RU" dirty="0">
                <a:latin typeface="Times New Roman" panose="02020603050405020304" pitchFamily="18" charset="0"/>
              </a:rPr>
              <a:t> веку на водном пути «из варяг в греки» сложилось около 12 восточнославянских племенных союзов.</a:t>
            </a:r>
          </a:p>
          <a:p>
            <a:r>
              <a:rPr lang="ru-RU" i="1" dirty="0">
                <a:latin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</a:rPr>
              <a:t>Центрами союзов племен были города. В </a:t>
            </a:r>
            <a:r>
              <a:rPr lang="en-US" dirty="0">
                <a:latin typeface="Times New Roman" panose="02020603050405020304" pitchFamily="18" charset="0"/>
              </a:rPr>
              <a:t>IX</a:t>
            </a:r>
            <a:r>
              <a:rPr lang="ru-RU" dirty="0">
                <a:latin typeface="Times New Roman" panose="02020603050405020304" pitchFamily="18" charset="0"/>
              </a:rPr>
              <a:t> веке существовало около 10 городов: Ладога, Новгород, </a:t>
            </a:r>
            <a:r>
              <a:rPr lang="ru-RU" dirty="0" err="1">
                <a:latin typeface="Times New Roman" panose="02020603050405020304" pitchFamily="18" charset="0"/>
              </a:rPr>
              <a:t>Белоозеро</a:t>
            </a:r>
            <a:r>
              <a:rPr lang="ru-RU" dirty="0">
                <a:latin typeface="Times New Roman" panose="02020603050405020304" pitchFamily="18" charset="0"/>
              </a:rPr>
              <a:t>, Изборск, Полоцк, Смоленск, </a:t>
            </a:r>
            <a:r>
              <a:rPr lang="ru-RU" dirty="0" err="1">
                <a:latin typeface="Times New Roman" panose="02020603050405020304" pitchFamily="18" charset="0"/>
              </a:rPr>
              <a:t>Ростов</a:t>
            </a:r>
            <a:r>
              <a:rPr lang="ru-RU" dirty="0">
                <a:latin typeface="Times New Roman" panose="02020603050405020304" pitchFamily="18" charset="0"/>
              </a:rPr>
              <a:t>, Муром, </a:t>
            </a:r>
            <a:r>
              <a:rPr lang="ru-RU" dirty="0" err="1">
                <a:latin typeface="Times New Roman" panose="02020603050405020304" pitchFamily="18" charset="0"/>
              </a:rPr>
              <a:t>Любеч</a:t>
            </a:r>
            <a:r>
              <a:rPr lang="ru-RU" dirty="0">
                <a:latin typeface="Times New Roman" panose="02020603050405020304" pitchFamily="18" charset="0"/>
              </a:rPr>
              <a:t>, Киев.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4098" name="Picture 2" descr="https://upload.wikimedia.org/wikipedia/commons/thumb/b/b4/LadogaKrepost.jpg/250px-LadogaKrepost.jpg?utm_source=ru.wikipedia.org&amp;utm_campaign=parser&amp;utm_content=thumbnail">
            <a:extLst>
              <a:ext uri="{FF2B5EF4-FFF2-40B4-BE49-F238E27FC236}">
                <a16:creationId xmlns:a16="http://schemas.microsoft.com/office/drawing/2014/main" id="{3D891BF7-C77E-4E7B-BB99-E59E123E34E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77" y="1914062"/>
            <a:ext cx="5656909" cy="3778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5331C3C4-BB4D-4172-9877-DA48F110C3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43116" y="72310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6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8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39129-D4F2-4275-BC94-82E20396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Образование государства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D4A183-1EB8-4C25-B43A-64CBA94386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Древнерусское государство возникло в 862 году вокруг Новгорода и охватило территорию современной Псковской и Вологодской области.</a:t>
            </a:r>
          </a:p>
          <a:p>
            <a:r>
              <a:rPr lang="ru-RU" dirty="0"/>
              <a:t>Образование государства связано с </a:t>
            </a:r>
            <a:r>
              <a:rPr lang="ru-RU" u="sng" dirty="0"/>
              <a:t>призванием варягов </a:t>
            </a:r>
            <a:r>
              <a:rPr lang="ru-RU" dirty="0"/>
              <a:t>новгородским посадником Гостомыслом для подавления междоусобиц в Новгороде.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AA223C5E-CD32-4B72-BB6C-F9559A11CB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124" name="Picture 4" descr="https://upload.wikimedia.org/wikipedia/commons/thumb/8/8c/%D0%9D%D0%BE%D0%B2%D0%B3%D0%BE%D1%80%D0%BE%D0%B4%D1%81%D0%BA%D0%B8%D0%B9_%D0%BA%D1%80%D0%B5%D0%BC%D0%BB%D1%8C_%D0%9F%D0%B0%D0%BC%D1%8F%D1%82%D0%BD%D0%B8%D0%BA_%D1%82%D1%8B%D1%81%D1%8F%D1%87%D0%B5%D0%BB%D0%B5%D1%82%D0%B8%D1%8E_%D0%A0%D1%83%D1%81%D0%B8.jpg/250px-%D0%9D%D0%BE%D0%B2%D0%B3%D0%BE%D1%80%D0%BE%D0%B4%D1%81%D0%BA%D0%B8%D0%B9_%D0%BA%D1%80%D0%B5%D0%BC%D0%BB%D1%8C_%D0%9F%D0%B0%D0%BC%D1%8F%D1%82%D0%BD%D0%B8%D0%BA_%D1%82%D1%8B%D1%81%D1%8F%D1%87%D0%B5%D0%BB%D0%B5%D1%82%D0%B8%D1%8E_%D0%A0%D1%83%D1%81%D0%B8.jpg?utm_source=ru.wikipedia.org&amp;utm_campaign=parser&amp;utm_content=thumbnail">
            <a:extLst>
              <a:ext uri="{FF2B5EF4-FFF2-40B4-BE49-F238E27FC236}">
                <a16:creationId xmlns:a16="http://schemas.microsoft.com/office/drawing/2014/main" id="{FEDC2184-DE55-4333-B7F1-BFE1C1F54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114" y="1825625"/>
            <a:ext cx="3770429" cy="414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28454512-B620-452F-AE1A-3014A10235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4514" y="58010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0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82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7280F5-F033-45CE-9CF1-8EC92E47E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Формирование новой нации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D5A8D9-21AB-43A8-91AB-A7C6C442F5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«Земля наша велика и обильна, а порядка в ней нет, придите княжить и владеть нами». Послание с таким текстом отправил Гостомысл за море, к варягам -</a:t>
            </a:r>
            <a:r>
              <a:rPr lang="ru-RU" dirty="0" err="1"/>
              <a:t>руси</a:t>
            </a:r>
            <a:r>
              <a:rPr lang="ru-RU" dirty="0"/>
              <a:t>.</a:t>
            </a:r>
          </a:p>
          <a:p>
            <a:r>
              <a:rPr lang="ru-RU" dirty="0"/>
              <a:t>В ответ из Скандинавии пришел </a:t>
            </a:r>
            <a:r>
              <a:rPr lang="ru-RU" b="1" dirty="0"/>
              <a:t>варяжский конунг Рюрик</a:t>
            </a:r>
            <a:r>
              <a:rPr lang="ru-RU" dirty="0"/>
              <a:t> с родственниками и дружиной и остановился сначала в Ладоге, а затем в Новгороде.</a:t>
            </a:r>
          </a:p>
          <a:p>
            <a:endParaRPr lang="ru-RU" dirty="0"/>
          </a:p>
          <a:p>
            <a:r>
              <a:rPr lang="ru-RU" dirty="0"/>
              <a:t>В течение следующего </a:t>
            </a:r>
            <a:r>
              <a:rPr lang="en-US" dirty="0"/>
              <a:t>X</a:t>
            </a:r>
            <a:r>
              <a:rPr lang="ru-RU" dirty="0"/>
              <a:t> века шел процесс смешения местных славян и скандинавского племени Русь, в результате смешения сформировалась </a:t>
            </a:r>
            <a:r>
              <a:rPr lang="ru-RU" b="1" dirty="0"/>
              <a:t>новая нация – русские. </a:t>
            </a:r>
            <a:endParaRPr lang="ru-RU" dirty="0"/>
          </a:p>
          <a:p>
            <a:endParaRPr lang="ru-RU" dirty="0"/>
          </a:p>
        </p:txBody>
      </p:sp>
      <p:pic>
        <p:nvPicPr>
          <p:cNvPr id="6152" name="Picture 8" descr="https://avatars.mds.yandex.net/i?id=2002c2b1d1025675db576f1e29eeed12_l-11453151-images-thumbs&amp;n=13">
            <a:extLst>
              <a:ext uri="{FF2B5EF4-FFF2-40B4-BE49-F238E27FC236}">
                <a16:creationId xmlns:a16="http://schemas.microsoft.com/office/drawing/2014/main" id="{BE716FC3-C183-4520-94E4-665D8A26DE1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30603"/>
            <a:ext cx="5181600" cy="3541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4AF5B0B2-1AF4-49B6-A9AC-4B2DD63E5F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94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9BFD7C-745A-4AD2-A215-A317595D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</a:rPr>
              <a:t>Устройство государства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3A8DA34-673C-49C8-A0BD-6F95999D48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>
                <a:latin typeface="Times New Roman" panose="02020603050405020304" pitchFamily="18" charset="0"/>
              </a:rPr>
              <a:t>В IX веке во главе государства встал князь, который издавал законы, судил и защищал границы. </a:t>
            </a:r>
          </a:p>
          <a:p>
            <a:r>
              <a:rPr lang="ru-RU" dirty="0">
                <a:latin typeface="Times New Roman" panose="02020603050405020304" pitchFamily="18" charset="0"/>
              </a:rPr>
              <a:t>Земля в государстве принадлежала князю. Население должно было выплачивать дань (налог). Для сбора дани князь и дружина объезжали подвластные территории с ноября по апрель. Сбор дани назывался </a:t>
            </a:r>
            <a:r>
              <a:rPr lang="ru-RU" b="1" u="sng" dirty="0">
                <a:latin typeface="Times New Roman" panose="02020603050405020304" pitchFamily="18" charset="0"/>
              </a:rPr>
              <a:t>полюдье.</a:t>
            </a:r>
            <a:r>
              <a:rPr lang="ru-RU" b="1" dirty="0">
                <a:latin typeface="Times New Roman" panose="02020603050405020304" pitchFamily="18" charset="0"/>
              </a:rPr>
              <a:t> </a:t>
            </a:r>
          </a:p>
          <a:p>
            <a:r>
              <a:rPr lang="ru-RU" dirty="0">
                <a:latin typeface="Times New Roman" panose="02020603050405020304" pitchFamily="18" charset="0"/>
              </a:rPr>
              <a:t>Русскими городами и волостями продолжало управлять </a:t>
            </a:r>
            <a:r>
              <a:rPr lang="ru-RU" b="1" u="sng" dirty="0">
                <a:latin typeface="Times New Roman" panose="02020603050405020304" pitchFamily="18" charset="0"/>
              </a:rPr>
              <a:t>вече </a:t>
            </a:r>
            <a:r>
              <a:rPr lang="ru-RU" dirty="0">
                <a:latin typeface="Times New Roman" panose="02020603050405020304" pitchFamily="18" charset="0"/>
              </a:rPr>
              <a:t>– собрание мужчин.</a:t>
            </a:r>
          </a:p>
          <a:p>
            <a:r>
              <a:rPr lang="ru-RU" dirty="0">
                <a:latin typeface="Times New Roman" panose="02020603050405020304" pitchFamily="18" charset="0"/>
              </a:rPr>
              <a:t>В случае войны, кроме дружины, в военный поход выступало народное ополчение (мужчины делились на десятки, сотни, тысячи; во главе тысячи – тысяцкий, выбираемый вече).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83B8C061-5ED3-447E-9C55-09DD491F96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180" name="Picture 12" descr="https://upload.wikimedia.org/wikipedia/commons/thumb/6/62/VNovogorod_Detinets_VN13.jpg/250px-VNovogorod_Detinets_VN13.jpg?utm_source=ru.wikipedia.org&amp;utm_campaign=parser&amp;utm_content=thumbnail">
            <a:extLst>
              <a:ext uri="{FF2B5EF4-FFF2-40B4-BE49-F238E27FC236}">
                <a16:creationId xmlns:a16="http://schemas.microsoft.com/office/drawing/2014/main" id="{7CA1BD30-A5DC-4D66-BD44-EFCF6D2A5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77" y="1825625"/>
            <a:ext cx="5180230" cy="256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DAE728EC-A50E-4D0C-B896-A49F2D96F6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277" y="72310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9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7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D5BC5-4DCC-44F5-AD09-36A5DC52A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</a:rPr>
              <a:t>Первые князья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7F57EC-6E33-495C-A7B9-82CC69CF00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latin typeface="Times New Roman" panose="02020603050405020304" pitchFamily="18" charset="0"/>
              </a:rPr>
              <a:t>Рюрик сформировал государство со столицей в Новгороде.</a:t>
            </a:r>
          </a:p>
          <a:p>
            <a:r>
              <a:rPr lang="ru-RU" dirty="0">
                <a:latin typeface="Times New Roman" panose="02020603050405020304" pitchFamily="18" charset="0"/>
              </a:rPr>
              <a:t>Вещий Олег увеличил территорию государства и перенес столицу в Киев.</a:t>
            </a:r>
          </a:p>
          <a:p>
            <a:r>
              <a:rPr lang="ru-RU" dirty="0">
                <a:latin typeface="Times New Roman" panose="02020603050405020304" pitchFamily="18" charset="0"/>
              </a:rPr>
              <a:t>Игорь удерживал в подчинении славян, покоренных Олегом</a:t>
            </a:r>
          </a:p>
          <a:p>
            <a:r>
              <a:rPr lang="ru-RU" dirty="0">
                <a:latin typeface="Times New Roman" panose="02020603050405020304" pitchFamily="18" charset="0"/>
              </a:rPr>
              <a:t>Ольга установила административное деление территории государства – погосты.</a:t>
            </a:r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C5D63AF7-F6B6-4C84-9EA8-F4D520715FD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224" y="1825625"/>
            <a:ext cx="428555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DFC03884-3B58-4A21-A36A-8EAF8D8458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0710" y="72310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1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8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53F42-9015-4B7E-BD13-6FE517EE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</a:rPr>
              <a:t>Первые князья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080EB2-6FDD-4D00-8E95-9B41E8A494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latin typeface="Times New Roman" panose="02020603050405020304" pitchFamily="18" charset="0"/>
              </a:rPr>
              <a:t>Святослав Игоревич – разрушил Хазарский Каганат, угрожавший Руси.</a:t>
            </a:r>
          </a:p>
          <a:p>
            <a:r>
              <a:rPr lang="ru-RU" dirty="0">
                <a:latin typeface="Times New Roman" panose="02020603050405020304" pitchFamily="18" charset="0"/>
              </a:rPr>
              <a:t>Владимир Красно Солнышко - крестил Русь в 988 году.</a:t>
            </a:r>
          </a:p>
          <a:p>
            <a:r>
              <a:rPr lang="ru-RU" dirty="0">
                <a:latin typeface="Times New Roman" panose="02020603050405020304" pitchFamily="18" charset="0"/>
              </a:rPr>
              <a:t>Ярослав Мудрый – установил первый закон государства «Русскую правду», способствовал расцвету культуры и связям с Западной Европой.</a:t>
            </a:r>
          </a:p>
          <a:p>
            <a:r>
              <a:rPr lang="ru-RU" dirty="0">
                <a:latin typeface="Times New Roman" panose="02020603050405020304" pitchFamily="18" charset="0"/>
              </a:rPr>
              <a:t>Владимир Мономах изменил порядок престолонаследия: от </a:t>
            </a:r>
            <a:r>
              <a:rPr lang="ru-RU" dirty="0" err="1">
                <a:latin typeface="Times New Roman" panose="02020603050405020304" pitchFamily="18" charset="0"/>
              </a:rPr>
              <a:t>лествичного</a:t>
            </a:r>
            <a:r>
              <a:rPr lang="ru-RU" dirty="0">
                <a:latin typeface="Times New Roman" panose="02020603050405020304" pitchFamily="18" charset="0"/>
              </a:rPr>
              <a:t> к вотчинному.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274FED3-926D-47C8-9630-8A89FAC802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198" name="Picture 6" descr="https://upload.wikimedia.org/wikipedia/commons/thumb/f/f6/Saint_Sophia_Cathedral_in_Novgorod_pic1.JPG/330px-Saint_Sophia_Cathedral_in_Novgorod_pic1.JPG?utm_source=ru.wikipedia.org&amp;utm_campaign=parser&amp;utm_content=thumbnail">
            <a:extLst>
              <a:ext uri="{FF2B5EF4-FFF2-40B4-BE49-F238E27FC236}">
                <a16:creationId xmlns:a16="http://schemas.microsoft.com/office/drawing/2014/main" id="{311C24CE-013E-4586-B653-0D611AAB9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142" y="1825625"/>
            <a:ext cx="4881716" cy="365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C8D3B53C-3C9D-4E66-A7BF-C376FF39D8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2613" y="64416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20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51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A96E55-6B3E-4FE2-A2C0-53C8F8A0E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Русь удельная (</a:t>
            </a:r>
            <a:r>
              <a:rPr lang="en-US" dirty="0"/>
              <a:t>XII</a:t>
            </a:r>
            <a:r>
              <a:rPr lang="ru-RU" dirty="0"/>
              <a:t> – </a:t>
            </a:r>
            <a:r>
              <a:rPr lang="en-US" dirty="0"/>
              <a:t>XV</a:t>
            </a:r>
            <a:r>
              <a:rPr lang="ru-RU" dirty="0"/>
              <a:t> века)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0412B8-9DD3-4982-B5DE-421D1C2B7E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К середине </a:t>
            </a:r>
            <a:r>
              <a:rPr lang="en-US" dirty="0"/>
              <a:t>XII</a:t>
            </a:r>
            <a:r>
              <a:rPr lang="ru-RU" dirty="0"/>
              <a:t> века Русь раздробилась на  самостоятельные княжества и  имела только форму единого государства.</a:t>
            </a:r>
          </a:p>
          <a:p>
            <a:r>
              <a:rPr lang="ru-RU" dirty="0"/>
              <a:t>В 60-е годы 12 века столицей государства стал город Владимир</a:t>
            </a:r>
          </a:p>
          <a:p>
            <a:r>
              <a:rPr lang="ru-RU" dirty="0"/>
              <a:t>    Обособление земель способствовало их экономическому и культурному развитию, но в военном отношении Русь потеряла обороноспособность… </a:t>
            </a:r>
          </a:p>
        </p:txBody>
      </p:sp>
      <p:pic>
        <p:nvPicPr>
          <p:cNvPr id="2050" name="Picture 2" descr="https://upload.wikimedia.org/wikipedia/commons/thumb/1/1a/Principalities_of_Kievan_Rus%27_%281054-1132%29_ru2.svg/330px-Principalities_of_Kievan_Rus%27_%281054-1132%29_ru2.svg.png?utm_source=ru.wikipedia.org&amp;utm_campaign=parser&amp;utm_content=thumbnail">
            <a:extLst>
              <a:ext uri="{FF2B5EF4-FFF2-40B4-BE49-F238E27FC236}">
                <a16:creationId xmlns:a16="http://schemas.microsoft.com/office/drawing/2014/main" id="{4444FEE0-662C-4B03-AD4A-AF9EB66A750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969" y="1825625"/>
            <a:ext cx="300406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FAB5A35F-014C-42EF-ADB2-075A07516D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33400" y="58747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13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46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304</TotalTime>
  <Words>532</Words>
  <Application>Microsoft Office PowerPoint</Application>
  <PresentationFormat>Широкоэкранный</PresentationFormat>
  <Paragraphs>43</Paragraphs>
  <Slides>9</Slides>
  <Notes>0</Notes>
  <HiddenSlides>0</HiddenSlides>
  <MMClips>9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Образование Древнерусского государства</vt:lpstr>
      <vt:lpstr>Славяне</vt:lpstr>
      <vt:lpstr>Расселение славян</vt:lpstr>
      <vt:lpstr>Образование государства</vt:lpstr>
      <vt:lpstr>Формирование новой нации</vt:lpstr>
      <vt:lpstr>Устройство государства</vt:lpstr>
      <vt:lpstr>Первые князья</vt:lpstr>
      <vt:lpstr>Первые князья</vt:lpstr>
      <vt:lpstr>Русь удельная (XII – XV века)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Образование Древнерусского государства</dc:title>
  <dc:creator>borod</dc:creator>
  <cp:lastModifiedBy>borod</cp:lastModifiedBy>
  <cp:revision>51</cp:revision>
  <dcterms:created xsi:type="dcterms:W3CDTF">2026-08-16T18:17:40Z</dcterms:created>
  <dcterms:modified xsi:type="dcterms:W3CDTF">2026-08-29T01:46:15Z</dcterms:modified>
</cp:coreProperties>
</file>