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3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8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F4E37-2F91-4C14-ABE2-229EE5E8356A}" type="datetimeFigureOut">
              <a:rPr lang="ru-RU" smtClean="0"/>
              <a:t>15.08.2024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942F1-10DC-4334-90ED-5793287F25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7029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F4E37-2F91-4C14-ABE2-229EE5E8356A}" type="datetimeFigureOut">
              <a:rPr lang="ru-RU" smtClean="0"/>
              <a:t>15.08.2024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942F1-10DC-4334-90ED-5793287F25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6781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F4E37-2F91-4C14-ABE2-229EE5E8356A}" type="datetimeFigureOut">
              <a:rPr lang="ru-RU" smtClean="0"/>
              <a:t>15.08.2024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942F1-10DC-4334-90ED-5793287F25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43676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F4E37-2F91-4C14-ABE2-229EE5E8356A}" type="datetimeFigureOut">
              <a:rPr lang="ru-RU" smtClean="0"/>
              <a:t>15.08.2024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942F1-10DC-4334-90ED-5793287F25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4514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F4E37-2F91-4C14-ABE2-229EE5E8356A}" type="datetimeFigureOut">
              <a:rPr lang="ru-RU" smtClean="0"/>
              <a:t>15.08.2024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942F1-10DC-4334-90ED-5793287F25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7242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F4E37-2F91-4C14-ABE2-229EE5E8356A}" type="datetimeFigureOut">
              <a:rPr lang="ru-RU" smtClean="0"/>
              <a:t>15.08.2024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942F1-10DC-4334-90ED-5793287F25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8349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F4E37-2F91-4C14-ABE2-229EE5E8356A}" type="datetimeFigureOut">
              <a:rPr lang="ru-RU" smtClean="0"/>
              <a:t>15.08.2024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942F1-10DC-4334-90ED-5793287F25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420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F4E37-2F91-4C14-ABE2-229EE5E8356A}" type="datetimeFigureOut">
              <a:rPr lang="ru-RU" smtClean="0"/>
              <a:t>15.08.2024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942F1-10DC-4334-90ED-5793287F25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1951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F4E37-2F91-4C14-ABE2-229EE5E8356A}" type="datetimeFigureOut">
              <a:rPr lang="ru-RU" smtClean="0"/>
              <a:t>15.08.2024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942F1-10DC-4334-90ED-5793287F25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9179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F4E37-2F91-4C14-ABE2-229EE5E8356A}" type="datetimeFigureOut">
              <a:rPr lang="ru-RU" smtClean="0"/>
              <a:t>15.08.2024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942F1-10DC-4334-90ED-5793287F25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6338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F4E37-2F91-4C14-ABE2-229EE5E8356A}" type="datetimeFigureOut">
              <a:rPr lang="ru-RU" smtClean="0"/>
              <a:t>15.08.2024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942F1-10DC-4334-90ED-5793287F25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8220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DF4E37-2F91-4C14-ABE2-229EE5E8356A}" type="datetimeFigureOut">
              <a:rPr lang="ru-RU" smtClean="0"/>
              <a:t>15.08.2024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2942F1-10DC-4334-90ED-5793287F25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60133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Преобразования и геополитика Екатерины </a:t>
            </a:r>
            <a:r>
              <a:rPr lang="en-US" dirty="0" smtClean="0"/>
              <a:t>II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ru-RU" b="1" dirty="0"/>
              <a:t> Эпоху Екатерины называют просвещенным </a:t>
            </a:r>
            <a:r>
              <a:rPr lang="ru-RU" b="1" dirty="0" smtClean="0"/>
              <a:t>абсолютизмом, а</a:t>
            </a:r>
          </a:p>
          <a:p>
            <a:pPr algn="l"/>
            <a:r>
              <a:rPr lang="ru-RU" b="1" dirty="0" smtClean="0"/>
              <a:t> </a:t>
            </a:r>
            <a:r>
              <a:rPr lang="ru-RU" b="1" dirty="0"/>
              <a:t>34 года ее </a:t>
            </a:r>
            <a:r>
              <a:rPr lang="ru-RU" b="1" dirty="0" smtClean="0"/>
              <a:t>правления - </a:t>
            </a:r>
            <a:r>
              <a:rPr lang="ru-RU" b="1" u="sng" dirty="0" smtClean="0"/>
              <a:t>«</a:t>
            </a:r>
            <a:r>
              <a:rPr lang="ru-RU" b="1" u="sng" dirty="0"/>
              <a:t>золотым веком» русского </a:t>
            </a:r>
            <a:r>
              <a:rPr lang="ru-RU" b="1" u="sng" dirty="0" smtClean="0"/>
              <a:t>дворянства…</a:t>
            </a:r>
            <a:r>
              <a:rPr lang="ru-RU" b="1" dirty="0" smtClean="0"/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21284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Россия при Екатерине </a:t>
            </a:r>
            <a:r>
              <a:rPr lang="en-US" dirty="0" smtClean="0"/>
              <a:t>II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ru-RU" dirty="0" smtClean="0"/>
              <a:t>Императрица </a:t>
            </a:r>
            <a:r>
              <a:rPr lang="ru-RU" dirty="0"/>
              <a:t>содействовала распространению образования, развитию городов и промышленности, но Россия оставалась крестьянской страной (95% населения  - крестьяне, из них от 60 до 90% - крепостные), и основная масса крестьян испытывала на себе все более и более тяжкий гнет крепостного </a:t>
            </a:r>
            <a:r>
              <a:rPr lang="ru-RU" dirty="0" smtClean="0"/>
              <a:t>права.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 flipH="1">
            <a:off x="1422399" y="5791200"/>
            <a:ext cx="43397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Портрет Екатерины II</a:t>
            </a:r>
            <a:r>
              <a:rPr lang="ru-RU" dirty="0" smtClean="0"/>
              <a:t>.</a:t>
            </a:r>
          </a:p>
          <a:p>
            <a:pPr algn="ctr"/>
            <a:r>
              <a:rPr lang="ru-RU" dirty="0" smtClean="0"/>
              <a:t>Д.Г. Левицкий</a:t>
            </a:r>
            <a:endParaRPr lang="ru-RU" dirty="0"/>
          </a:p>
        </p:txBody>
      </p:sp>
      <p:pic>
        <p:nvPicPr>
          <p:cNvPr id="6" name="Объект 5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133600" y="1825625"/>
            <a:ext cx="2943634" cy="3885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844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u="sng" dirty="0"/>
              <a:t>Реформы Екатерины </a:t>
            </a:r>
            <a:r>
              <a:rPr lang="en-US" u="sng" dirty="0"/>
              <a:t>II 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1. Губернская </a:t>
            </a:r>
            <a:r>
              <a:rPr lang="ru-RU" dirty="0" smtClean="0"/>
              <a:t>реформа, </a:t>
            </a:r>
            <a:r>
              <a:rPr lang="ru-RU" dirty="0"/>
              <a:t>которая делила государство на 50 </a:t>
            </a:r>
            <a:r>
              <a:rPr lang="ru-RU" dirty="0" smtClean="0"/>
              <a:t>губерний, состоящих </a:t>
            </a:r>
            <a:r>
              <a:rPr lang="ru-RU" dirty="0"/>
              <a:t>из   10 – 12 </a:t>
            </a:r>
            <a:r>
              <a:rPr lang="ru-RU" dirty="0" smtClean="0"/>
              <a:t>уездов.</a:t>
            </a:r>
            <a:endParaRPr lang="ru-RU" dirty="0"/>
          </a:p>
          <a:p>
            <a:r>
              <a:rPr lang="ru-RU" dirty="0"/>
              <a:t>2. Жалованная    грамота </a:t>
            </a:r>
            <a:r>
              <a:rPr lang="ru-RU" dirty="0" smtClean="0"/>
              <a:t>дворянству </a:t>
            </a:r>
            <a:r>
              <a:rPr lang="ru-RU" dirty="0"/>
              <a:t>с подтверждением их </a:t>
            </a:r>
            <a:r>
              <a:rPr lang="ru-RU" dirty="0" smtClean="0"/>
              <a:t>привилегий.</a:t>
            </a:r>
          </a:p>
          <a:p>
            <a:r>
              <a:rPr lang="ru-RU" dirty="0"/>
              <a:t>Жалованная грамота </a:t>
            </a:r>
            <a:r>
              <a:rPr lang="ru-RU" dirty="0" smtClean="0"/>
              <a:t>городам </a:t>
            </a:r>
            <a:r>
              <a:rPr lang="ru-RU" dirty="0"/>
              <a:t>с правом на самоуправление и делением        городского населения на шесть  </a:t>
            </a:r>
            <a:r>
              <a:rPr lang="ru-RU" dirty="0" smtClean="0"/>
              <a:t>разрядов.</a:t>
            </a:r>
            <a:endParaRPr lang="ru-RU" dirty="0"/>
          </a:p>
          <a:p>
            <a:r>
              <a:rPr lang="ru-RU" dirty="0"/>
              <a:t> </a:t>
            </a:r>
            <a:r>
              <a:rPr lang="ru-RU" dirty="0" smtClean="0"/>
              <a:t>3.  </a:t>
            </a:r>
            <a:r>
              <a:rPr lang="ru-RU" dirty="0"/>
              <a:t>Секуляризация владений церковных </a:t>
            </a:r>
            <a:r>
              <a:rPr lang="ru-RU" dirty="0" smtClean="0"/>
              <a:t>земель.</a:t>
            </a:r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pic>
        <p:nvPicPr>
          <p:cNvPr id="2050" name="Picture 2" descr="https://upload.wikimedia.org/wikipedia/ru/e/e6/%D0%93%D1%80%D0%B0%D0%BC%D0%BE%D1%82%D0%B0_%D0%B4%D0%B2%D0%BE%D1%80%D1%8F%D0%BD%D1%81%D1%82%D0%B2%D1%83.jpg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7708" y="1825625"/>
            <a:ext cx="2769692" cy="3763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146629" y="5863771"/>
            <a:ext cx="40059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Жалованная грамота дворянству. Титульный лист.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557036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Преобразования в </a:t>
            </a:r>
            <a:r>
              <a:rPr lang="ru-RU" dirty="0" smtClean="0"/>
              <a:t>экономике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5646057" y="1825625"/>
            <a:ext cx="5707743" cy="4351338"/>
          </a:xfrm>
        </p:spPr>
        <p:txBody>
          <a:bodyPr>
            <a:normAutofit lnSpcReduction="10000"/>
          </a:bodyPr>
          <a:lstStyle/>
          <a:p>
            <a:r>
              <a:rPr lang="ru-RU" dirty="0" smtClean="0"/>
              <a:t>  </a:t>
            </a:r>
            <a:r>
              <a:rPr lang="ru-RU" dirty="0"/>
              <a:t>Манифест о свободе предпринимательства (1775 г.), который позволял открывать              мануфактуры без согласования с правительством;</a:t>
            </a:r>
          </a:p>
          <a:p>
            <a:r>
              <a:rPr lang="ru-RU" dirty="0"/>
              <a:t> </a:t>
            </a:r>
            <a:r>
              <a:rPr lang="ru-RU" dirty="0" smtClean="0"/>
              <a:t> </a:t>
            </a:r>
            <a:r>
              <a:rPr lang="ru-RU" dirty="0"/>
              <a:t>Первая паровая машина в России  –  двухцилиндровый двигатель внешнего сгорания (1763 г. </a:t>
            </a:r>
            <a:r>
              <a:rPr lang="ru-RU" dirty="0" err="1"/>
              <a:t>И.И.Ползунов</a:t>
            </a:r>
            <a:r>
              <a:rPr lang="ru-RU" dirty="0"/>
              <a:t>);</a:t>
            </a:r>
          </a:p>
          <a:p>
            <a:r>
              <a:rPr lang="ru-RU" dirty="0"/>
              <a:t> </a:t>
            </a:r>
            <a:r>
              <a:rPr lang="ru-RU" dirty="0" smtClean="0"/>
              <a:t> </a:t>
            </a:r>
            <a:r>
              <a:rPr lang="ru-RU" dirty="0"/>
              <a:t>Первые бумажные деньги – ассигнации (1769 г.)</a:t>
            </a:r>
          </a:p>
          <a:p>
            <a:endParaRPr lang="ru-RU" dirty="0"/>
          </a:p>
        </p:txBody>
      </p:sp>
      <p:pic>
        <p:nvPicPr>
          <p:cNvPr id="3074" name="Picture 2" descr="undefined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8628" y="1825625"/>
            <a:ext cx="2409371" cy="3529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378857" y="5807631"/>
            <a:ext cx="3468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Ассигнация 1769 года.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69490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Образование и культур</a:t>
            </a:r>
            <a:r>
              <a:rPr lang="ru-RU" b="1" dirty="0"/>
              <a:t>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lvl="0"/>
            <a:endParaRPr lang="ru-RU" b="1" dirty="0" smtClean="0"/>
          </a:p>
          <a:p>
            <a:pPr lvl="0"/>
            <a:r>
              <a:rPr lang="ru-RU" b="1" dirty="0" smtClean="0"/>
              <a:t>Были открыты: Общеобразовательные </a:t>
            </a:r>
            <a:r>
              <a:rPr lang="ru-RU" b="1" dirty="0"/>
              <a:t>и </a:t>
            </a:r>
            <a:r>
              <a:rPr lang="ru-RU" b="1" dirty="0" smtClean="0"/>
              <a:t>сословные школы.</a:t>
            </a:r>
            <a:endParaRPr lang="ru-RU" dirty="0"/>
          </a:p>
          <a:p>
            <a:pPr lvl="0"/>
            <a:r>
              <a:rPr lang="ru-RU" dirty="0" smtClean="0"/>
              <a:t>Воспитательные </a:t>
            </a:r>
            <a:r>
              <a:rPr lang="ru-RU" dirty="0"/>
              <a:t>дома.</a:t>
            </a:r>
          </a:p>
          <a:p>
            <a:pPr lvl="0"/>
            <a:r>
              <a:rPr lang="ru-RU" b="1" dirty="0"/>
              <a:t>Смольный институт благородных девиц</a:t>
            </a:r>
            <a:r>
              <a:rPr lang="ru-RU" dirty="0"/>
              <a:t>  (1764 г.)</a:t>
            </a:r>
          </a:p>
          <a:p>
            <a:pPr lvl="0"/>
            <a:r>
              <a:rPr lang="ru-RU" b="1" dirty="0"/>
              <a:t>Российская Академия (1783 г.)</a:t>
            </a:r>
            <a:endParaRPr lang="ru-RU" dirty="0"/>
          </a:p>
          <a:p>
            <a:pPr lvl="0"/>
            <a:r>
              <a:rPr lang="ru-RU" b="1" dirty="0"/>
              <a:t>Публичная </a:t>
            </a:r>
            <a:r>
              <a:rPr lang="ru-RU" b="1" dirty="0" smtClean="0"/>
              <a:t>библиотека</a:t>
            </a:r>
          </a:p>
          <a:p>
            <a:pPr marL="0" lvl="0" indent="0">
              <a:buNone/>
            </a:pPr>
            <a:r>
              <a:rPr lang="ru-RU" b="1" dirty="0"/>
              <a:t> </a:t>
            </a:r>
            <a:r>
              <a:rPr lang="ru-RU" b="1" dirty="0" smtClean="0"/>
              <a:t>  </a:t>
            </a:r>
            <a:r>
              <a:rPr lang="ru-RU" b="1" dirty="0"/>
              <a:t>(1795 г.)</a:t>
            </a:r>
            <a:endParaRPr lang="ru-RU" dirty="0"/>
          </a:p>
          <a:p>
            <a:endParaRPr lang="ru-RU" dirty="0"/>
          </a:p>
        </p:txBody>
      </p:sp>
      <p:pic>
        <p:nvPicPr>
          <p:cNvPr id="4098" name="Picture 2" descr="undefined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543969"/>
            <a:ext cx="5181600" cy="2914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838200" y="5805714"/>
            <a:ext cx="518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Публичная библиотека. Е.Т. Соколов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39108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Петербургская архитектура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1" dirty="0" smtClean="0"/>
              <a:t>Были созданы:</a:t>
            </a:r>
          </a:p>
          <a:p>
            <a:r>
              <a:rPr lang="ru-RU" b="1" dirty="0" smtClean="0"/>
              <a:t>  Эрмитаж  </a:t>
            </a:r>
            <a:r>
              <a:rPr lang="ru-RU" b="1" dirty="0"/>
              <a:t>(начало эрмитажной коллекции  - это приобретение картин    Екатериной </a:t>
            </a:r>
            <a:r>
              <a:rPr lang="ru-RU" b="1" dirty="0" smtClean="0"/>
              <a:t>Великой).</a:t>
            </a:r>
            <a:endParaRPr lang="ru-RU" dirty="0" smtClean="0"/>
          </a:p>
          <a:p>
            <a:r>
              <a:rPr lang="ru-RU" dirty="0" smtClean="0"/>
              <a:t> </a:t>
            </a:r>
            <a:r>
              <a:rPr lang="ru-RU" b="1" dirty="0" smtClean="0"/>
              <a:t>Медный всадник- скульптор </a:t>
            </a:r>
            <a:r>
              <a:rPr lang="ru-RU" b="1" dirty="0" err="1" smtClean="0"/>
              <a:t>Этьен</a:t>
            </a:r>
            <a:r>
              <a:rPr lang="ru-RU" b="1" dirty="0" smtClean="0"/>
              <a:t> Морис Фальконе.</a:t>
            </a:r>
          </a:p>
          <a:p>
            <a:r>
              <a:rPr lang="ru-RU" b="1" dirty="0" smtClean="0"/>
              <a:t> </a:t>
            </a:r>
            <a:r>
              <a:rPr lang="ru-RU" b="1" dirty="0"/>
              <a:t>Гостиный </a:t>
            </a:r>
            <a:r>
              <a:rPr lang="ru-RU" b="1" dirty="0" smtClean="0"/>
              <a:t>двор </a:t>
            </a:r>
            <a:r>
              <a:rPr lang="ru-RU" b="1" dirty="0"/>
              <a:t>- архитектор Жан Батист </a:t>
            </a:r>
            <a:r>
              <a:rPr lang="ru-RU" b="1" dirty="0" err="1"/>
              <a:t>Валлен</a:t>
            </a:r>
            <a:r>
              <a:rPr lang="ru-RU" b="1" dirty="0"/>
              <a:t> </a:t>
            </a:r>
            <a:r>
              <a:rPr lang="ru-RU" b="1" dirty="0" err="1" smtClean="0"/>
              <a:t>Деламот</a:t>
            </a:r>
            <a:r>
              <a:rPr lang="ru-RU" b="1" dirty="0"/>
              <a:t>.</a:t>
            </a:r>
            <a:endParaRPr lang="ru-RU" dirty="0"/>
          </a:p>
          <a:p>
            <a:r>
              <a:rPr lang="ru-RU" b="1" dirty="0" smtClean="0"/>
              <a:t>  </a:t>
            </a:r>
            <a:r>
              <a:rPr lang="ru-RU" b="1" dirty="0"/>
              <a:t>Г</a:t>
            </a:r>
            <a:r>
              <a:rPr lang="ru-RU" b="1" dirty="0" smtClean="0"/>
              <a:t>ранитные </a:t>
            </a:r>
            <a:r>
              <a:rPr lang="ru-RU" b="1" dirty="0"/>
              <a:t>набережные и чугунные </a:t>
            </a:r>
            <a:r>
              <a:rPr lang="ru-RU" b="1" dirty="0" smtClean="0"/>
              <a:t>решетки.</a:t>
            </a:r>
          </a:p>
          <a:p>
            <a:r>
              <a:rPr lang="ru-RU" b="1" dirty="0"/>
              <a:t>Р</a:t>
            </a:r>
            <a:r>
              <a:rPr lang="ru-RU" b="1" dirty="0" smtClean="0"/>
              <a:t>ешетка </a:t>
            </a:r>
            <a:r>
              <a:rPr lang="ru-RU" b="1" dirty="0"/>
              <a:t>Летнего сада </a:t>
            </a:r>
            <a:r>
              <a:rPr lang="ru-RU" dirty="0" smtClean="0"/>
              <a:t>-  </a:t>
            </a:r>
            <a:r>
              <a:rPr lang="ru-RU" dirty="0"/>
              <a:t>архитекторы: Юрий </a:t>
            </a:r>
            <a:r>
              <a:rPr lang="ru-RU" dirty="0" err="1"/>
              <a:t>Фельтон</a:t>
            </a:r>
            <a:r>
              <a:rPr lang="ru-RU" dirty="0"/>
              <a:t> и Петр Егоров; </a:t>
            </a:r>
          </a:p>
          <a:p>
            <a:endParaRPr lang="ru-RU" dirty="0"/>
          </a:p>
          <a:p>
            <a:endParaRPr lang="ru-RU" b="1" dirty="0" smtClean="0"/>
          </a:p>
          <a:p>
            <a:endParaRPr lang="ru-RU" dirty="0"/>
          </a:p>
          <a:p>
            <a:endParaRPr lang="ru-RU" dirty="0"/>
          </a:p>
        </p:txBody>
      </p:sp>
      <p:pic>
        <p:nvPicPr>
          <p:cNvPr id="5122" name="Picture 2" descr="Звено решётки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7000" y="2479834"/>
            <a:ext cx="4064000" cy="3042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407886" y="5863771"/>
            <a:ext cx="4053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Звено решетки Летнего сада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948169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Внешняя политика Екатерины </a:t>
            </a:r>
            <a:r>
              <a:rPr lang="en-US" dirty="0" smtClean="0"/>
              <a:t>II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133600" y="1825624"/>
            <a:ext cx="2820932" cy="3543796"/>
          </a:xfrm>
          <a:prstGeom prst="rect">
            <a:avLst/>
          </a:prstGeom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5849257" y="1825624"/>
            <a:ext cx="5504542" cy="4357462"/>
          </a:xfrm>
        </p:spPr>
        <p:txBody>
          <a:bodyPr>
            <a:normAutofit/>
          </a:bodyPr>
          <a:lstStyle/>
          <a:p>
            <a:r>
              <a:rPr lang="ru-RU" dirty="0" smtClean="0"/>
              <a:t>Усиление влияния России в Речи </a:t>
            </a:r>
            <a:r>
              <a:rPr lang="ru-RU" dirty="0" err="1" smtClean="0"/>
              <a:t>Посполитой</a:t>
            </a:r>
            <a:r>
              <a:rPr lang="ru-RU" dirty="0" smtClean="0"/>
              <a:t> после избрания на польский трон бывшего фаворита Екатерины </a:t>
            </a:r>
            <a:r>
              <a:rPr lang="en-US" dirty="0" smtClean="0"/>
              <a:t>II</a:t>
            </a:r>
            <a:r>
              <a:rPr lang="ru-RU" dirty="0" smtClean="0"/>
              <a:t> Станислава </a:t>
            </a:r>
            <a:r>
              <a:rPr lang="ru-RU" dirty="0" err="1" smtClean="0"/>
              <a:t>Понятовского</a:t>
            </a:r>
            <a:r>
              <a:rPr lang="ru-RU" dirty="0" smtClean="0"/>
              <a:t> повлекло за собой две войны с Османской империей и три раздела Польши.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1582057" y="5504360"/>
            <a:ext cx="39769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Портрет Станислава Августа </a:t>
            </a:r>
            <a:r>
              <a:rPr lang="ru-RU" dirty="0" err="1" smtClean="0"/>
              <a:t>Понятовского</a:t>
            </a:r>
            <a:r>
              <a:rPr lang="ru-RU" dirty="0" smtClean="0"/>
              <a:t>. </a:t>
            </a:r>
            <a:r>
              <a:rPr lang="ru-RU" dirty="0"/>
              <a:t>Марчелло </a:t>
            </a:r>
            <a:r>
              <a:rPr lang="ru-RU" dirty="0" err="1"/>
              <a:t>Баччарелли</a:t>
            </a:r>
            <a:r>
              <a:rPr lang="ru-RU" dirty="0"/>
              <a:t> </a:t>
            </a:r>
            <a:r>
              <a:rPr lang="ru-RU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51075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Геополитика в области южных границ империи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ru-RU" b="1" dirty="0"/>
              <a:t>Россия получила выход в Черное</a:t>
            </a:r>
            <a:r>
              <a:rPr lang="ru-RU" dirty="0"/>
              <a:t> </a:t>
            </a:r>
            <a:r>
              <a:rPr lang="ru-RU" b="1" dirty="0"/>
              <a:t>море,</a:t>
            </a:r>
            <a:r>
              <a:rPr lang="ru-RU" dirty="0"/>
              <a:t> </a:t>
            </a:r>
            <a:r>
              <a:rPr lang="ru-RU" b="1" dirty="0"/>
              <a:t>Крым (1783 г.), </a:t>
            </a:r>
            <a:r>
              <a:rPr lang="ru-RU" b="1" dirty="0" err="1"/>
              <a:t>Новороссию</a:t>
            </a:r>
            <a:r>
              <a:rPr lang="ru-RU" b="1" dirty="0"/>
              <a:t> (северное побережье Черного моря) </a:t>
            </a:r>
            <a:r>
              <a:rPr lang="ru-RU" dirty="0"/>
              <a:t>в результате двух войн с Турцией (1768 – 1774 гг.) и (1787 – 1791 гг</a:t>
            </a:r>
            <a:r>
              <a:rPr lang="ru-RU" dirty="0" smtClean="0"/>
              <a:t>.)</a:t>
            </a:r>
          </a:p>
          <a:p>
            <a:r>
              <a:rPr lang="ru-RU" b="1" dirty="0"/>
              <a:t>Россия укрепила свои позиции на </a:t>
            </a:r>
            <a:r>
              <a:rPr lang="ru-RU" b="1" dirty="0" smtClean="0"/>
              <a:t>Кавказе</a:t>
            </a:r>
            <a:r>
              <a:rPr lang="ru-RU" b="1" dirty="0"/>
              <a:t> </a:t>
            </a:r>
            <a:r>
              <a:rPr lang="ru-RU" b="1" dirty="0" smtClean="0"/>
              <a:t>и в Закавказье, объявив протекторат над Восточной Грузией.</a:t>
            </a:r>
            <a:endParaRPr lang="ru-RU" dirty="0"/>
          </a:p>
          <a:p>
            <a:pPr lvl="0"/>
            <a:endParaRPr lang="ru-RU" dirty="0"/>
          </a:p>
        </p:txBody>
      </p:sp>
      <p:pic>
        <p:nvPicPr>
          <p:cNvPr id="6146" name="Picture 2" descr="https://levelvan.ru/upload/media/n-1001151507344-3832.jpg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029047"/>
            <a:ext cx="5181600" cy="3944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36567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Геополитика в области западных границ империи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0"/>
            <a:r>
              <a:rPr lang="ru-RU" b="1" dirty="0"/>
              <a:t>Россия продвинулась на Запад, присоединив Литву, Курляндию (часть современной Латвии и Литвы), Белоруссию и часть Западной Украины</a:t>
            </a:r>
            <a:r>
              <a:rPr lang="ru-RU" dirty="0"/>
              <a:t> после третьего раздела Польши между Австрией, Пруссией и Россией (три раздела Польши, соответственно в 1772 г., 1793 г. и в 1795 г.)</a:t>
            </a:r>
          </a:p>
        </p:txBody>
      </p:sp>
      <p:pic>
        <p:nvPicPr>
          <p:cNvPr id="7170" name="Picture 2" descr="https://mtdata.ru/u23/photoDF65/20180343147-0/original.png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8171" y="1825625"/>
            <a:ext cx="4130738" cy="3744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756229" y="5907314"/>
            <a:ext cx="4072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Три раздела Речи </a:t>
            </a:r>
            <a:r>
              <a:rPr lang="ru-RU" dirty="0" err="1" smtClean="0"/>
              <a:t>Посполитой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254316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2464</TotalTime>
  <Words>460</Words>
  <Application>Microsoft Office PowerPoint</Application>
  <PresentationFormat>Широкоэкранный</PresentationFormat>
  <Paragraphs>46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Преобразования и геополитика Екатерины II</vt:lpstr>
      <vt:lpstr>Россия при Екатерине II</vt:lpstr>
      <vt:lpstr>Реформы Екатерины II </vt:lpstr>
      <vt:lpstr>Преобразования в экономике</vt:lpstr>
      <vt:lpstr>Образование и культура</vt:lpstr>
      <vt:lpstr>Петербургская архитектура</vt:lpstr>
      <vt:lpstr>Внешняя политика Екатерины II</vt:lpstr>
      <vt:lpstr>Геополитика в области южных границ империи</vt:lpstr>
      <vt:lpstr>Геополитика в области западных границ империи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Преобразования и геополитика Екатерины II</dc:title>
  <dc:creator>Учетная запись Майкрософт</dc:creator>
  <cp:lastModifiedBy>Учетная запись Майкрософт</cp:lastModifiedBy>
  <cp:revision>45</cp:revision>
  <dcterms:created xsi:type="dcterms:W3CDTF">2024-08-09T22:41:56Z</dcterms:created>
  <dcterms:modified xsi:type="dcterms:W3CDTF">2024-08-15T00:44:26Z</dcterms:modified>
</cp:coreProperties>
</file>