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64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43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7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29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0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52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31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48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42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71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2A317-9A63-4F92-803C-E7D8553FFAAE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219F4-A790-498D-830D-5B03D8063B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393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1.pn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69E3F-16DA-4DDD-8DC0-EB65ED5E50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Начало Великой Отечественной войны</a:t>
            </a:r>
            <a:br>
              <a:rPr lang="ru-RU" b="1" dirty="0"/>
            </a:br>
            <a:r>
              <a:rPr lang="ru-RU" b="1" dirty="0"/>
              <a:t>1941 – 1942 годы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41EBCF-25AD-440A-8DCE-DB8D4E6337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 Рано утром</a:t>
            </a:r>
            <a:r>
              <a:rPr lang="ru-RU" b="1" dirty="0"/>
              <a:t> 22 июня 1941 года</a:t>
            </a:r>
            <a:r>
              <a:rPr lang="ru-RU" dirty="0"/>
              <a:t> германские войска вторглись на территорию СССР. Немцы наступали по всей линии границ от Черного до Балтийского морей. Началась Великая Отечественная война – составная часть Второй мировой.</a:t>
            </a:r>
          </a:p>
        </p:txBody>
      </p:sp>
      <p:pic>
        <p:nvPicPr>
          <p:cNvPr id="6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12E30BC6-EFC3-412C-B371-8C8E73E18A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72548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2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38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3D51B-5121-4C37-967A-7CB731F6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Планы Германии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A0329F-4B56-4D64-B2D3-18BAF96D6C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Германия планировала против Советского Союза «молниеносную войну».</a:t>
            </a:r>
          </a:p>
          <a:p>
            <a:r>
              <a:rPr lang="ru-RU" dirty="0"/>
              <a:t> Этот план получил название </a:t>
            </a:r>
            <a:r>
              <a:rPr lang="ru-RU" b="1" dirty="0"/>
              <a:t>"Барбаросса".</a:t>
            </a:r>
            <a:r>
              <a:rPr lang="ru-RU" dirty="0"/>
              <a:t> Блицкриг предполагал захват европейской части СССР за 5 месяцев и выход на линию Архангельск-Астрахань.</a:t>
            </a:r>
          </a:p>
          <a:p>
            <a:endParaRPr lang="ru-RU" dirty="0"/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E67333F3-410B-402B-966A-8D43EC7D82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9668" y="723106"/>
            <a:ext cx="609600" cy="609600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43FBE92F-A790-4135-A510-466E3EF537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60" y="1718702"/>
            <a:ext cx="2588821" cy="4243968"/>
          </a:xfrm>
        </p:spPr>
      </p:pic>
    </p:spTree>
    <p:extLst>
      <p:ext uri="{BB962C8B-B14F-4D97-AF65-F5344CB8AC3E}">
        <p14:creationId xmlns:p14="http://schemas.microsoft.com/office/powerpoint/2010/main" val="223525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07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EE29C-F265-4263-9C63-A9CB3216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Союзники Германии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CA4EA6-8015-4DE5-AE85-7D9D23A59C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Союзниками Германии в 1940- 1941 годах стали многие государства, в том числе: Италия, Румыния, Венгрия, Хорватия, Словакия</a:t>
            </a:r>
            <a:r>
              <a:rPr lang="ru-RU"/>
              <a:t>, Финляндия.  </a:t>
            </a:r>
            <a:endParaRPr lang="ru-RU" dirty="0"/>
          </a:p>
          <a:p>
            <a:endParaRPr lang="ru-RU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37F56936-024C-4780-9BA1-86BE9E3B7F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85" y="1825625"/>
            <a:ext cx="4745229" cy="4351338"/>
          </a:xfrm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12C2E819-95B4-49CA-AE02-E3BAEA87BC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1585" y="41830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2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89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31C086-2684-4C91-9DAC-E292632B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Союзники СССР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153BEE-BB6C-4365-BAC8-28A9E8C148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Основными союзниками СССР были Великобритания и США</a:t>
            </a:r>
            <a:r>
              <a:rPr lang="ru-RU" dirty="0"/>
              <a:t>.</a:t>
            </a:r>
          </a:p>
          <a:p>
            <a:r>
              <a:rPr lang="ru-RU" dirty="0"/>
              <a:t>Союзники поставляли в  нашу страну оборудование, машины, самолеты, боеприпасы, металлы и продукты. Первые поставки по </a:t>
            </a:r>
            <a:r>
              <a:rPr lang="ru-RU" b="1" dirty="0"/>
              <a:t>ленд-лизу</a:t>
            </a:r>
            <a:r>
              <a:rPr lang="ru-RU" dirty="0"/>
              <a:t> </a:t>
            </a:r>
            <a:r>
              <a:rPr lang="ru-RU" b="1" dirty="0"/>
              <a:t>(кредит на очень выгодных условиях)</a:t>
            </a:r>
            <a:r>
              <a:rPr lang="ru-RU" dirty="0"/>
              <a:t> из Великобритании пришли 31 августа 1941 года в Архангельский порт.</a:t>
            </a:r>
          </a:p>
          <a:p>
            <a:r>
              <a:rPr lang="ru-RU" dirty="0"/>
              <a:t> </a:t>
            </a:r>
          </a:p>
          <a:p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1E7F123-581F-42C2-BB0A-F710C0F360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89758"/>
            <a:ext cx="5181600" cy="3623071"/>
          </a:xfrm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4F0CB11D-61AB-46FA-81B8-35AF4204A3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40658" y="54323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78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F5996-24DC-4608-8289-1672848F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Вторжение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E37B13-7B66-49FE-82DE-57B1A87349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Немецкие войска наступали в трех основных направлениях: </a:t>
            </a:r>
          </a:p>
          <a:p>
            <a:r>
              <a:rPr lang="ru-RU" dirty="0"/>
              <a:t>- группа армий «Север» -  на Ленинград;</a:t>
            </a:r>
          </a:p>
          <a:p>
            <a:r>
              <a:rPr lang="ru-RU" dirty="0"/>
              <a:t>- группа армий «Центр» - на Москву;</a:t>
            </a:r>
          </a:p>
          <a:p>
            <a:r>
              <a:rPr lang="ru-RU" dirty="0"/>
              <a:t>- группа армий «Юг» - на Киев.</a:t>
            </a:r>
          </a:p>
          <a:p>
            <a:endParaRPr lang="ru-RU" dirty="0"/>
          </a:p>
        </p:txBody>
      </p:sp>
      <p:pic>
        <p:nvPicPr>
          <p:cNvPr id="6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0AEEE50B-4C31-4512-8EB7-FC39BEBA47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3729" y="723106"/>
            <a:ext cx="609600" cy="609600"/>
          </a:xfrm>
          <a:prstGeom prst="rect">
            <a:avLst/>
          </a:prstGeo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D6A40C06-F79A-458C-BB23-EFC81C0749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244" y="1783556"/>
            <a:ext cx="3119238" cy="4351338"/>
          </a:xfrm>
        </p:spPr>
      </p:pic>
    </p:spTree>
    <p:extLst>
      <p:ext uri="{BB962C8B-B14F-4D97-AF65-F5344CB8AC3E}">
        <p14:creationId xmlns:p14="http://schemas.microsoft.com/office/powerpoint/2010/main" val="258571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B1C8E-470D-41D2-B8CC-61781171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Северное направление.</a:t>
            </a:r>
            <a:br>
              <a:rPr lang="ru-RU" dirty="0"/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BE947F-EE68-4175-B15D-1C88F57EB9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884" y="1435464"/>
            <a:ext cx="2897783" cy="4741499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CEA092C1-21DE-4A55-993A-2E9091D32B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Немецкий корпус «Норвегия» должен был захватить Мурманск и Мурманскую железную дорогу</a:t>
            </a:r>
            <a:r>
              <a:rPr lang="ru-RU" i="1" dirty="0"/>
              <a:t>. </a:t>
            </a:r>
            <a:endParaRPr lang="ru-RU" dirty="0"/>
          </a:p>
          <a:p>
            <a:r>
              <a:rPr lang="ru-RU" dirty="0"/>
              <a:t>Через Мурманск совершались поставки по </a:t>
            </a:r>
            <a:r>
              <a:rPr lang="ru-RU" b="1" dirty="0"/>
              <a:t>ленд-лизу</a:t>
            </a:r>
            <a:r>
              <a:rPr lang="ru-RU" dirty="0"/>
              <a:t> из стран союзниц, в основном, из Великобритании.</a:t>
            </a:r>
          </a:p>
          <a:p>
            <a:r>
              <a:rPr lang="ru-RU" dirty="0"/>
              <a:t>Караваны грузов сопровождали корабли охранения и авиация, потому что немцы, пытаясь не пропустить груз, держали эти пути под прицельным огнем.</a:t>
            </a:r>
          </a:p>
          <a:p>
            <a:r>
              <a:rPr lang="ru-RU" dirty="0"/>
              <a:t>Несмотря на тотальные бомбардировки, город так и не был сдан врагу, хотя к концу войны в Мурманске почти не осталось зданий. Сообщение по железной дороге было восстановлено в 1944 году.</a:t>
            </a:r>
          </a:p>
          <a:p>
            <a:endParaRPr lang="ru-RU" dirty="0"/>
          </a:p>
        </p:txBody>
      </p:sp>
      <p:pic>
        <p:nvPicPr>
          <p:cNvPr id="7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68C06813-80AA-437E-8036-B7FD12829F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" y="49942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70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04895-3777-4B32-85F3-EDE31BE6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Блокада Ленинграда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4516CB-78A4-4A44-9E89-4BAB5E8B01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В начале сентября 1941 года Ленинград был блокирован с севера финскими войсками, с юга - немецкими</a:t>
            </a:r>
            <a:r>
              <a:rPr lang="ru-RU" b="1" dirty="0"/>
              <a:t>. 8 сентября 1941</a:t>
            </a:r>
            <a:r>
              <a:rPr lang="ru-RU" dirty="0"/>
              <a:t> года немецкие войска группы армий «Север» захватили Шлиссельбург. Прекратилось сухопутное сообщение Ленинграда с другими регионами страны. 10 сентября были уничтожены с воздуха </a:t>
            </a:r>
            <a:r>
              <a:rPr lang="ru-RU" dirty="0" err="1"/>
              <a:t>Бадаевские</a:t>
            </a:r>
            <a:r>
              <a:rPr lang="ru-RU" dirty="0"/>
              <a:t> продовольственные склады, Ленинград оказался в кольце блокады без запаса продуктов. В ноябре люди начали умирать от голода. </a:t>
            </a:r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E5C3E18-A8F2-428A-8A01-278CC4DB6535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32" y="2030681"/>
            <a:ext cx="4773880" cy="3158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DD1356D-A5D9-4A2A-97A8-74DF82EC6B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5232" y="60222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7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85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F74AA-0A20-4D10-A8D2-C0474BB5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Блокада Ленинграда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116524-D23A-485F-95AA-6A92CCBFFE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Город бомбили, в декабре установились сильные морозы, отопление было печным, дров не хватало, и не хватало сил, чтобы дрова поднять на этаж. За водой приходилось выходить к Неве, или к колонке на улице. Трамваи не ходили. Чтобы отоварить карточки, иногда, нужно было пройти несколько километров до пункта выдачи хлеба. Тем не менее, Ленинград работал, заводы выпускали боеприпасы и военную технику. Дети с одиннадцати - тринадцати лет трудились и в совхозах, и на производстве. Основной способ эвакуации жителей и доставки продовольствия в город - это дорога через Ладожское озеро, которая находилась под постоянным обстрелом. </a:t>
            </a:r>
          </a:p>
        </p:txBody>
      </p:sp>
      <p:pic>
        <p:nvPicPr>
          <p:cNvPr id="6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2E0E8FF-D02C-41BD-93A1-A4643F2D90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681037"/>
            <a:ext cx="609600" cy="6096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D2C3D0-D724-4CC7-B670-5CC94412F1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37" y="2006600"/>
            <a:ext cx="4860759" cy="3488924"/>
          </a:xfrm>
          <a:prstGeom prst="rect">
            <a:avLst/>
          </a:prstGeom>
        </p:spPr>
      </p:pic>
      <p:sp>
        <p:nvSpPr>
          <p:cNvPr id="10" name="Объект 9">
            <a:extLst>
              <a:ext uri="{FF2B5EF4-FFF2-40B4-BE49-F238E27FC236}">
                <a16:creationId xmlns:a16="http://schemas.microsoft.com/office/drawing/2014/main" id="{0E7400B2-1025-439A-83F4-449641B22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65296" cy="3669899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318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6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3C2E4-7312-4817-BCEC-C32C7CBA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Наступление на Москву</a:t>
            </a:r>
            <a:br>
              <a:rPr lang="ru-RU" b="1" dirty="0"/>
            </a:b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BF659FB-DA13-4C90-9A04-10B037AFCE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08" y="1957137"/>
            <a:ext cx="5377474" cy="3523716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C273AA18-3BD2-4DA4-92DF-D1AD8DD3A0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30 сентября</a:t>
            </a:r>
            <a:r>
              <a:rPr lang="ru-RU" dirty="0"/>
              <a:t> 1941 года началось наступление германских войск на Москву (операция «Тайфун»). В ходе этой операции линия фронта на подступах к Москве растянулась на 800 км (Ржев – Вязьма – Брянск).</a:t>
            </a:r>
          </a:p>
          <a:p>
            <a:r>
              <a:rPr lang="ru-RU" dirty="0"/>
              <a:t>Немцы пытались подойти к Москве с трех сторон: с юга, севера и запада постепенно сжимая линию нашей обороны.</a:t>
            </a:r>
          </a:p>
          <a:p>
            <a:r>
              <a:rPr lang="ru-RU" dirty="0"/>
              <a:t>Через месяц фронт на центральном направлении под Вязьмой был прорван точечными массированными ударами немцев,  в окружении оказались  крупные подразделения нашей армии. Чтобы восстановить линию обороны, на этот участок фронта было брошено около 3000 тысяч курсантов военных училищ, которые задержали продвижение немцев на 2 недели. </a:t>
            </a:r>
          </a:p>
          <a:p>
            <a:endParaRPr lang="ru-RU" dirty="0"/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A1CA8CCB-C8CE-41FB-9289-5DB87BDE04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1161" y="42568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2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09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3C1D2-6BE6-4CB6-B746-826D3BC0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Наступление на Москву</a:t>
            </a:r>
            <a:br>
              <a:rPr lang="ru-RU" b="1" dirty="0"/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804315C-A190-410C-89FC-A64A65E9AE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5181600" cy="3420665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A2BCCA6-91F0-46F5-8ADA-C22B5AA34F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В средине октября бои велись уже в 80 - 100 км от столицы на линии (Калинин - Тверь – Можайск – Тула). Возникла угроза захвата Москвы, 15 октября было объявлено об эвакуации правительственных и государственных учреждений. Проливные дожди и распутица затрудняли подвоз продовольствия и техники и на какое-то время замедлили боевые действия с двух сторон. Но в начале ноября произошла перегруппировка сил. </a:t>
            </a:r>
          </a:p>
          <a:p>
            <a:r>
              <a:rPr lang="ru-RU" dirty="0"/>
              <a:t>Сталин укрепляет линию обороны и 7 ноября проводит парад на Красной площади, чтобы поднять боевой дух армии.</a:t>
            </a:r>
          </a:p>
          <a:p>
            <a:r>
              <a:rPr lang="ru-RU" dirty="0"/>
              <a:t>Гитлеровские войска готовятся к броску и начинают новый этап наступления 15 – 18 ноября на линии Клин – Тула, пытаясь окружить Москву. </a:t>
            </a:r>
          </a:p>
          <a:p>
            <a:r>
              <a:rPr lang="ru-RU" dirty="0"/>
              <a:t>В конце ноября Сталин переводит 10 дивизий и большое количество военной техники с дальневосточных границ под Москву.</a:t>
            </a:r>
          </a:p>
          <a:p>
            <a:endParaRPr lang="ru-RU" dirty="0"/>
          </a:p>
        </p:txBody>
      </p:sp>
      <p:pic>
        <p:nvPicPr>
          <p:cNvPr id="7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66AA04AA-25B4-458E-8966-68B4C67714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4013" y="6736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0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99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219AE-B118-4512-8514-CAC6FD5F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Наступление на Москву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70833B7-56D5-4006-8A90-B45C4AE77F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25484"/>
            <a:ext cx="5181600" cy="3674225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0D063209-6619-4B76-9A33-BF5E4BC355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В это же время приходит техническая помощь от союзников: Великобритании и США. В боях под Москвой участвуют английские танки и самолеты, американские истребители.</a:t>
            </a:r>
          </a:p>
          <a:p>
            <a:r>
              <a:rPr lang="ru-RU" dirty="0"/>
              <a:t>Тем не менее, немцам удается занять Красную Поляну на северо-западе от столицы, и оказаться в 30 км от Кремля. Чтобы остановить их продвижение, было принято решение взорвать несколько водохранилищ канала имени Москвы. Поток ледяной воды помешал вражеским войскам подойти к Москве с севера.</a:t>
            </a:r>
          </a:p>
          <a:p>
            <a:r>
              <a:rPr lang="ru-RU" dirty="0"/>
              <a:t>На юге от Москвы все население Тулы вышло на оборону города вместе с частями регулярной армии и танковыми дивизиями. Несмотря на то, что Тула была почти окружена, город удалось удержать и не допустить продвижение немцев к Москве.</a:t>
            </a:r>
          </a:p>
          <a:p>
            <a:r>
              <a:rPr lang="ru-RU" dirty="0"/>
              <a:t>Через несколько дней 5 – 6 декабря наши войска </a:t>
            </a:r>
            <a:r>
              <a:rPr lang="ru-RU" b="1" dirty="0"/>
              <a:t>перешли от обороны к контрнаступлению</a:t>
            </a:r>
            <a:r>
              <a:rPr lang="ru-RU" dirty="0"/>
              <a:t> и отбросили немцев на 100 – 250 км от столицы по всей линии фронта от Клина до Ельца. «Наступление на Москву провалилось. Все жертвы и усилия наших доблестных войск оказались напрасными. Мы потерпели серьёзное поражение…», - писал генерал </a:t>
            </a:r>
            <a:r>
              <a:rPr lang="ru-RU" dirty="0" err="1"/>
              <a:t>Гейнц</a:t>
            </a:r>
            <a:r>
              <a:rPr lang="ru-RU" dirty="0"/>
              <a:t> Гудериан. Это было первое поражение гитлеровских войск в Европе.</a:t>
            </a:r>
          </a:p>
          <a:p>
            <a:endParaRPr lang="ru-RU" dirty="0"/>
          </a:p>
        </p:txBody>
      </p:sp>
      <p:pic>
        <p:nvPicPr>
          <p:cNvPr id="9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DF23F2C8-2C25-40B6-A0C2-2E14F82C11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" y="59992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1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60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86A3A-9BD9-4CD8-AC28-ACD6100B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Захват Крыма и Севастополя</a:t>
            </a:r>
            <a:br>
              <a:rPr lang="ru-RU" b="1" dirty="0"/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22573A3-1696-42BC-AFA1-A427CEF598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906" y="1825625"/>
            <a:ext cx="3214188" cy="4351338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56E12E65-D07F-40CE-964E-5EF9033DC8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19 сентября 1941 года был захвачен Киев, и группа армий Юг сосредоточилась на захвате Крыма (30 сентября 1941 – 4 июля 1942 гг.). </a:t>
            </a:r>
          </a:p>
          <a:p>
            <a:r>
              <a:rPr lang="ru-RU" dirty="0"/>
              <a:t>Кольцо вокруг Севастополя сужалось. С начала ноября 1941 года город оборонялся, в основном, силами морской пехоты. </a:t>
            </a:r>
          </a:p>
          <a:p>
            <a:r>
              <a:rPr lang="ru-RU" dirty="0"/>
              <a:t>Город был хорошо укреплен с суши цепочкой фортов, но немцы наносили мощные артиллерийские удары (крупнейшее артиллерийское орудие «Дора», установленное в скалах). Летом город подвергли массированным бомбардировкам с воздуха, до 600 вылетов в день. К концу июня 1942 года у защитников Севастополя стали заканчиваться боеприпасы, и было принято решение о эвакуации высшего и старшего командного состава. Оставшиеся в городе военнослужащие оборонялись еще несколько дней. В начале июля 1942 года руины Севастополя оказались в руках врага. </a:t>
            </a:r>
          </a:p>
          <a:p>
            <a:endParaRPr lang="ru-RU" dirty="0"/>
          </a:p>
        </p:txBody>
      </p:sp>
      <p:pic>
        <p:nvPicPr>
          <p:cNvPr id="8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4DF00D38-CF41-49DF-8ADB-F441AE4699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3729" y="42568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62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08D1E-0033-41BF-BF4F-88282F26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Весна и лето 1942 года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D066DD8-A03E-45C8-9C51-67793D0D8D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88082"/>
            <a:ext cx="5181600" cy="3693914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C5C58E97-9E38-45F1-955D-AC9788590F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i="1" dirty="0"/>
              <a:t>Весной и летом 1942 года советские войска терпели поражение. В конце мая был оставлен Харьков, в конце июля </a:t>
            </a:r>
            <a:r>
              <a:rPr lang="ru-RU" i="1" dirty="0" err="1"/>
              <a:t>Ростов</a:t>
            </a:r>
            <a:r>
              <a:rPr lang="ru-RU" i="1" dirty="0"/>
              <a:t>-на-Дону. Открылась дорога на Кавказ. Гитлер разделил группу армий «Юг» на две части: «А» и «В». Группа армий «</a:t>
            </a:r>
            <a:r>
              <a:rPr lang="en-US" i="1" dirty="0"/>
              <a:t>A</a:t>
            </a:r>
            <a:r>
              <a:rPr lang="ru-RU" i="1" dirty="0"/>
              <a:t>» была нацелена на захват Кавказа, группа армий «В» - на захват Сталинграда.</a:t>
            </a:r>
            <a:endParaRPr lang="ru-RU" dirty="0"/>
          </a:p>
          <a:p>
            <a:endParaRPr lang="ru-RU" dirty="0"/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AA469498-60B3-4E03-8154-E31AB18E9A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0206" y="37623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2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5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5559C-98ED-42D7-BCBB-3FC776FF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Операция по захвату Кавказа</a:t>
            </a:r>
            <a:br>
              <a:rPr lang="ru-RU" b="1" dirty="0"/>
            </a:b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73BBCA9-57D6-49F2-8504-223A717E6D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65265"/>
            <a:ext cx="5181600" cy="3573293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B6EB37DA-058E-4DFE-B2C6-C547863A0A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Чтобы добраться до нефти Грозного и Баку, Гитлер начал операцию по захвату Кавказа «Эдельвейс» (23 июля -21 августа 1942 </a:t>
            </a:r>
            <a:r>
              <a:rPr lang="ru-RU" dirty="0" err="1"/>
              <a:t>г.г</a:t>
            </a:r>
            <a:r>
              <a:rPr lang="ru-RU" dirty="0"/>
              <a:t>.)</a:t>
            </a:r>
          </a:p>
          <a:p>
            <a:r>
              <a:rPr lang="ru-RU" dirty="0"/>
              <a:t>Предполагалось наступление на Кавказ в трех направлениях: обход Кавказских гор с запада, востока и через Главный Кавказский хребет в сторону Грузии.</a:t>
            </a:r>
          </a:p>
          <a:p>
            <a:r>
              <a:rPr lang="ru-RU" dirty="0"/>
              <a:t>Операция велась в предгорьях Кавказа, немецкие егеря против горных стрелков, немцам удалось захватить Предкавказье, занять гостиницу «Приют одиннадцати» на высоте 4050 м над уровнем моря и, даже, водрузить флаги со свастикой на вершинах Эльбруса, но дальше, в Закавказье немцы пройти не смогли. </a:t>
            </a:r>
          </a:p>
          <a:p>
            <a:endParaRPr lang="ru-RU" dirty="0"/>
          </a:p>
        </p:txBody>
      </p:sp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FBB0D731-F323-4EF7-95E3-6B6554F5C9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3006" y="3651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9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3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689</TotalTime>
  <Words>1221</Words>
  <Application>Microsoft Office PowerPoint</Application>
  <PresentationFormat>Широкоэкранный</PresentationFormat>
  <Paragraphs>49</Paragraphs>
  <Slides>14</Slides>
  <Notes>0</Notes>
  <HiddenSlides>0</HiddenSlides>
  <MMClips>14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Начало Великой Отечественной войны 1941 – 1942 годы</vt:lpstr>
      <vt:lpstr>Планы Германии</vt:lpstr>
      <vt:lpstr>Союзники Германии</vt:lpstr>
      <vt:lpstr>Союзники СССР</vt:lpstr>
      <vt:lpstr>Вторжение</vt:lpstr>
      <vt:lpstr>Северное направление. </vt:lpstr>
      <vt:lpstr>Блокада Ленинграда </vt:lpstr>
      <vt:lpstr>Блокада Ленинграда</vt:lpstr>
      <vt:lpstr>Наступление на Москву </vt:lpstr>
      <vt:lpstr>Наступление на Москву </vt:lpstr>
      <vt:lpstr>Наступление на Москву</vt:lpstr>
      <vt:lpstr>Захват Крыма и Севастополя </vt:lpstr>
      <vt:lpstr>Весна и лето 1942 года</vt:lpstr>
      <vt:lpstr>Операция по захвату Кавказа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Начало Великой Отечественной войны 1941 – 1942 годы</dc:title>
  <dc:creator>bazhenova-ep</dc:creator>
  <cp:lastModifiedBy>bazhenova-ep</cp:lastModifiedBy>
  <cp:revision>43</cp:revision>
  <dcterms:created xsi:type="dcterms:W3CDTF">2025-10-14T08:24:30Z</dcterms:created>
  <dcterms:modified xsi:type="dcterms:W3CDTF">2025-10-21T10:10:53Z</dcterms:modified>
</cp:coreProperties>
</file>