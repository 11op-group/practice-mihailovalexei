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4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04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09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85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36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52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94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28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65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91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042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146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198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9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402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576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303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98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BC1ABF8-A278-454F-86F6-2FBE948FE800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4774DA2-4E06-4AD6-B4C9-05F9E9C8E8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458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Преобразования Петра Первог</a:t>
            </a:r>
            <a:r>
              <a:rPr lang="ru-RU" dirty="0" smtClean="0"/>
              <a:t>о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effectLst/>
              </a:rPr>
              <a:t>Петр вступил на престол в возрасте 10 лет в 1682 </a:t>
            </a:r>
            <a:r>
              <a:rPr lang="ru-RU" sz="4000" dirty="0" smtClean="0">
                <a:effectLst/>
              </a:rPr>
              <a:t>году…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437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effectLst/>
              </a:rPr>
              <a:t>Реформы армии и флота</a:t>
            </a:r>
            <a:endParaRPr lang="ru-RU" b="1" dirty="0">
              <a:effectLst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С</a:t>
            </a:r>
            <a:r>
              <a:rPr lang="ru-RU" b="1" dirty="0" smtClean="0">
                <a:effectLst/>
              </a:rPr>
              <a:t>оздание </a:t>
            </a:r>
            <a:r>
              <a:rPr lang="ru-RU" b="1" dirty="0">
                <a:effectLst/>
              </a:rPr>
              <a:t>регулярной армии</a:t>
            </a:r>
            <a:r>
              <a:rPr lang="ru-RU" dirty="0">
                <a:effectLst/>
              </a:rPr>
              <a:t> </a:t>
            </a:r>
            <a:r>
              <a:rPr lang="ru-RU" dirty="0" smtClean="0">
                <a:effectLst/>
              </a:rPr>
              <a:t>вместо стрелецкого войска в 1699 году</a:t>
            </a:r>
            <a:endParaRPr lang="ru-RU" dirty="0" smtClean="0">
              <a:effectLst/>
            </a:endParaRPr>
          </a:p>
          <a:p>
            <a:r>
              <a:rPr lang="ru-RU" b="1" dirty="0">
                <a:effectLst/>
              </a:rPr>
              <a:t>С</a:t>
            </a:r>
            <a:r>
              <a:rPr lang="ru-RU" b="1" dirty="0" smtClean="0">
                <a:effectLst/>
              </a:rPr>
              <a:t>оздание </a:t>
            </a:r>
            <a:r>
              <a:rPr lang="ru-RU" b="1" dirty="0">
                <a:effectLst/>
              </a:rPr>
              <a:t>флота</a:t>
            </a:r>
            <a:r>
              <a:rPr lang="ru-RU" dirty="0">
                <a:effectLst/>
              </a:rPr>
              <a:t> </a:t>
            </a:r>
            <a:r>
              <a:rPr lang="ru-RU" dirty="0" smtClean="0">
                <a:effectLst/>
              </a:rPr>
              <a:t>в 1708 году</a:t>
            </a:r>
            <a:endParaRPr lang="ru-RU" dirty="0" smtClean="0">
              <a:effectLst/>
            </a:endParaRPr>
          </a:p>
          <a:p>
            <a:r>
              <a:rPr lang="ru-RU" b="1" dirty="0">
                <a:effectLst/>
              </a:rPr>
              <a:t>Введение </a:t>
            </a:r>
            <a:r>
              <a:rPr lang="ru-RU" b="1" dirty="0" smtClean="0">
                <a:effectLst/>
              </a:rPr>
              <a:t>новых налогов</a:t>
            </a:r>
            <a:r>
              <a:rPr lang="ru-RU" dirty="0">
                <a:effectLst/>
              </a:rPr>
              <a:t> </a:t>
            </a:r>
            <a:r>
              <a:rPr lang="ru-RU" dirty="0" smtClean="0">
                <a:effectLst/>
              </a:rPr>
              <a:t>для содержания армии и флота</a:t>
            </a:r>
            <a:endParaRPr lang="ru-RU" dirty="0" smtClean="0">
              <a:effectLst/>
            </a:endParaRPr>
          </a:p>
          <a:p>
            <a:endParaRPr lang="ru-RU" b="1" dirty="0" smtClean="0">
              <a:effectLst/>
            </a:endParaRPr>
          </a:p>
          <a:p>
            <a:endParaRPr lang="ru-RU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4570" y="6357257"/>
            <a:ext cx="2772229" cy="49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141413" y="5943600"/>
            <a:ext cx="502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Линкор времен Петра </a:t>
            </a:r>
            <a:r>
              <a:rPr lang="en-US" dirty="0" smtClean="0"/>
              <a:t>I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88102" y="2318657"/>
            <a:ext cx="2205164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1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</a:rPr>
              <a:t>Установление крепостного права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4314" y="2347685"/>
            <a:ext cx="4692624" cy="31242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Последний шаг к установлению крепостного права сделал Петр </a:t>
            </a:r>
            <a:r>
              <a:rPr lang="en-US" b="1" dirty="0">
                <a:effectLst/>
              </a:rPr>
              <a:t>I</a:t>
            </a:r>
            <a:r>
              <a:rPr lang="ru-RU" b="1" dirty="0">
                <a:effectLst/>
              </a:rPr>
              <a:t>. В 1718 году он ввел новый налог – «подушную подать». Ответственность за выплату крестьянских податей была возложена на феодалов, возникла личная зависимость крестьянина от землевладельца. Это означало прикрепление человека к хозяину земли, на которой этот человек живет.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41413" y="5624285"/>
            <a:ext cx="502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«Сбор недоимок на селе» К. </a:t>
            </a:r>
            <a:r>
              <a:rPr lang="ru-RU" dirty="0" err="1" smtClean="0"/>
              <a:t>Трутовский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91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Реформы государственного управления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144485"/>
            <a:ext cx="4739527" cy="31242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effectLst/>
              </a:rPr>
              <a:t>Создание </a:t>
            </a:r>
            <a:r>
              <a:rPr lang="ru-RU" b="1" dirty="0">
                <a:effectLst/>
              </a:rPr>
              <a:t>Сената </a:t>
            </a:r>
          </a:p>
          <a:p>
            <a:r>
              <a:rPr lang="ru-RU" b="1" dirty="0" smtClean="0">
                <a:effectLst/>
              </a:rPr>
              <a:t>Учреждение коллегий</a:t>
            </a:r>
          </a:p>
          <a:p>
            <a:r>
              <a:rPr lang="ru-RU" b="1" dirty="0">
                <a:effectLst/>
              </a:rPr>
              <a:t>Создание лестницы служебных чинов </a:t>
            </a:r>
            <a:endParaRPr lang="ru-RU" b="1" dirty="0" smtClean="0">
              <a:effectLst/>
            </a:endParaRPr>
          </a:p>
          <a:p>
            <a:r>
              <a:rPr lang="ru-RU" b="1" dirty="0">
                <a:effectLst/>
              </a:rPr>
              <a:t>Д</a:t>
            </a:r>
            <a:r>
              <a:rPr lang="ru-RU" b="1" dirty="0" smtClean="0">
                <a:effectLst/>
              </a:rPr>
              <a:t>еление </a:t>
            </a:r>
            <a:r>
              <a:rPr lang="ru-RU" b="1" dirty="0">
                <a:effectLst/>
              </a:rPr>
              <a:t>государства на губернии, </a:t>
            </a:r>
            <a:r>
              <a:rPr lang="ru-RU" b="1" dirty="0" smtClean="0">
                <a:effectLst/>
              </a:rPr>
              <a:t>провинции</a:t>
            </a:r>
            <a:r>
              <a:rPr lang="ru-RU" b="1" dirty="0">
                <a:effectLst/>
              </a:rPr>
              <a:t>, </a:t>
            </a:r>
            <a:r>
              <a:rPr lang="ru-RU" b="1" dirty="0" smtClean="0">
                <a:effectLst/>
              </a:rPr>
              <a:t>уезды</a:t>
            </a:r>
          </a:p>
          <a:p>
            <a:r>
              <a:rPr lang="ru-RU" b="1" dirty="0">
                <a:effectLst/>
              </a:rPr>
              <a:t>О</a:t>
            </a:r>
            <a:r>
              <a:rPr lang="ru-RU" b="1" dirty="0" smtClean="0">
                <a:effectLst/>
              </a:rPr>
              <a:t>рганизация </a:t>
            </a:r>
            <a:r>
              <a:rPr lang="ru-RU" b="1" dirty="0">
                <a:effectLst/>
              </a:rPr>
              <a:t>городского сословия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413" y="5428343"/>
            <a:ext cx="473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Здание Двенадцати коллегий. Доменико </a:t>
            </a:r>
            <a:r>
              <a:rPr lang="ru-RU" dirty="0" err="1" smtClean="0"/>
              <a:t>Трезини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73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</a:rPr>
              <a:t>Преобразования в </a:t>
            </a:r>
            <a:r>
              <a:rPr lang="ru-RU" b="1" dirty="0" smtClean="0">
                <a:effectLst/>
              </a:rPr>
              <a:t>промышленности</a:t>
            </a:r>
            <a:endParaRPr lang="ru-RU" dirty="0">
              <a:effectLst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38492" y="2667000"/>
            <a:ext cx="4682641" cy="31242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В России при Петре было открыто около 200 предприятий, в </a:t>
            </a:r>
            <a:r>
              <a:rPr lang="ru-RU" b="1" dirty="0" smtClean="0">
                <a:effectLst/>
              </a:rPr>
              <a:t>основном, </a:t>
            </a:r>
            <a:r>
              <a:rPr lang="ru-RU" b="1" dirty="0">
                <a:effectLst/>
              </a:rPr>
              <a:t>это были горнодобывающие, чугуноплавильные и оружейные производства</a:t>
            </a:r>
            <a:r>
              <a:rPr lang="ru-RU" dirty="0">
                <a:effectLst/>
              </a:rPr>
              <a:t> </a:t>
            </a:r>
            <a:r>
              <a:rPr lang="ru-RU" dirty="0" smtClean="0">
                <a:effectLst/>
              </a:rPr>
              <a:t>…</a:t>
            </a:r>
          </a:p>
          <a:p>
            <a:r>
              <a:rPr lang="ru-RU" b="1" dirty="0" smtClean="0">
                <a:effectLst/>
              </a:rPr>
              <a:t>Царь открывал </a:t>
            </a:r>
            <a:r>
              <a:rPr lang="ru-RU" b="1" dirty="0">
                <a:effectLst/>
              </a:rPr>
              <a:t>казенные фабрики и заводы, а потом отдавал их во владение способным </a:t>
            </a:r>
            <a:r>
              <a:rPr lang="ru-RU" b="1" dirty="0" smtClean="0">
                <a:effectLst/>
              </a:rPr>
              <a:t>предпринимателям</a:t>
            </a:r>
            <a:r>
              <a:rPr lang="ru-RU" b="1" dirty="0">
                <a:effectLst/>
              </a:rPr>
              <a:t>.</a:t>
            </a:r>
            <a:r>
              <a:rPr lang="ru-RU" dirty="0">
                <a:effectLst/>
              </a:rPr>
              <a:t> </a:t>
            </a:r>
            <a:r>
              <a:rPr lang="ru-RU" b="1" dirty="0">
                <a:effectLst/>
              </a:rPr>
              <a:t>Такая политика получила название</a:t>
            </a:r>
            <a:r>
              <a:rPr lang="ru-RU" dirty="0">
                <a:effectLst/>
              </a:rPr>
              <a:t> </a:t>
            </a:r>
            <a:r>
              <a:rPr lang="ru-RU" b="1" dirty="0">
                <a:effectLst/>
              </a:rPr>
              <a:t>«протекционизма».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1238492" y="5943600"/>
            <a:ext cx="468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Металлургический завод Демидовых на Урале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342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</a:rPr>
              <a:t>Установление абсолютной </a:t>
            </a:r>
            <a:r>
              <a:rPr lang="ru-RU" b="1" dirty="0" smtClean="0">
                <a:effectLst/>
              </a:rPr>
              <a:t>монархии</a:t>
            </a:r>
            <a:endParaRPr lang="ru-RU" dirty="0">
              <a:effectLst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Окончательно абсолютная монархия установилась при Петре </a:t>
            </a:r>
            <a:r>
              <a:rPr lang="en-US" b="1" dirty="0">
                <a:effectLst/>
              </a:rPr>
              <a:t>I</a:t>
            </a:r>
            <a:r>
              <a:rPr lang="ru-RU" b="1" dirty="0">
                <a:effectLst/>
              </a:rPr>
              <a:t>.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После смерти патриарха Адриана в 1700 году было упразднено патриаршество. Православную церковь возглавила государственная структура - Святейший Правительствующий Синод, назначаемый царем. Таким образом, светская и духовная власть сосредоточилась в руках Петра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509485" y="5544457"/>
            <a:ext cx="415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Здание Сената и Синода </a:t>
            </a:r>
          </a:p>
          <a:p>
            <a:pPr algn="ctr"/>
            <a:r>
              <a:rPr lang="ru-RU" dirty="0" smtClean="0"/>
              <a:t>в Санкт-Петербурге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293938"/>
            <a:ext cx="48768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4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effectLst/>
              </a:rPr>
              <a:t>Реформы образования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9813" y="2514600"/>
            <a:ext cx="4876800" cy="24384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</a:t>
            </a:r>
            <a:r>
              <a:rPr lang="ru-RU" b="1" dirty="0" smtClean="0">
                <a:effectLst/>
              </a:rPr>
              <a:t>бязательное </a:t>
            </a:r>
            <a:r>
              <a:rPr lang="ru-RU" b="1" dirty="0">
                <a:effectLst/>
              </a:rPr>
              <a:t>обучение грамоте, арифметике и геометрии мальчиков дворянского происхождения до 15 лет</a:t>
            </a:r>
            <a:r>
              <a:rPr lang="ru-RU" dirty="0">
                <a:effectLst/>
              </a:rPr>
              <a:t> (указы от 1714 и 1723 гг</a:t>
            </a:r>
            <a:r>
              <a:rPr lang="ru-RU" dirty="0" smtClean="0">
                <a:effectLst/>
              </a:rPr>
              <a:t>.)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- устройство начальных </a:t>
            </a:r>
            <a:r>
              <a:rPr lang="ru-RU" dirty="0" smtClean="0">
                <a:effectLst/>
              </a:rPr>
              <a:t>школ </a:t>
            </a:r>
            <a:r>
              <a:rPr lang="ru-RU" dirty="0">
                <a:effectLst/>
              </a:rPr>
              <a:t>и специальных офицерских учебных заведений (</a:t>
            </a:r>
            <a:r>
              <a:rPr lang="ru-RU" i="1" dirty="0">
                <a:effectLst/>
              </a:rPr>
              <a:t>математические, навигационные, медицинские</a:t>
            </a:r>
            <a:r>
              <a:rPr lang="ru-RU" dirty="0">
                <a:effectLst/>
              </a:rPr>
              <a:t> . . .)  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164272" y="5196114"/>
            <a:ext cx="475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«Земская школа в Московской Руси».</a:t>
            </a:r>
          </a:p>
          <a:p>
            <a:pPr algn="ctr"/>
            <a:r>
              <a:rPr lang="ru-RU" dirty="0" err="1" smtClean="0"/>
              <a:t>Б.Кустодиев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9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effectLst/>
              </a:rPr>
              <a:t>Культура петровской </a:t>
            </a:r>
            <a:r>
              <a:rPr lang="ru-RU" b="1" dirty="0" smtClean="0">
                <a:effectLst/>
              </a:rPr>
              <a:t>эпохи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514600"/>
            <a:ext cx="4876800" cy="2552192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b="1" dirty="0" smtClean="0">
                <a:effectLst/>
              </a:rPr>
              <a:t>Было введено </a:t>
            </a:r>
            <a:r>
              <a:rPr lang="ru-RU" b="1" dirty="0">
                <a:effectLst/>
              </a:rPr>
              <a:t>новое </a:t>
            </a:r>
            <a:r>
              <a:rPr lang="ru-RU" b="1" dirty="0" smtClean="0">
                <a:effectLst/>
              </a:rPr>
              <a:t>летоисчисление</a:t>
            </a:r>
            <a:r>
              <a:rPr lang="ru-RU" dirty="0" smtClean="0">
                <a:effectLst/>
              </a:rPr>
              <a:t>(</a:t>
            </a:r>
            <a:r>
              <a:rPr lang="ru-RU" u="sng" dirty="0" smtClean="0">
                <a:effectLst/>
              </a:rPr>
              <a:t>от </a:t>
            </a:r>
            <a:r>
              <a:rPr lang="ru-RU" u="sng" dirty="0">
                <a:effectLst/>
              </a:rPr>
              <a:t>Рождества </a:t>
            </a:r>
            <a:r>
              <a:rPr lang="ru-RU" u="sng" dirty="0" smtClean="0">
                <a:effectLst/>
              </a:rPr>
              <a:t>Христова)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Н</a:t>
            </a:r>
            <a:r>
              <a:rPr lang="ru-RU" b="1" dirty="0" smtClean="0">
                <a:effectLst/>
              </a:rPr>
              <a:t>овый год стал начинаться </a:t>
            </a:r>
            <a:r>
              <a:rPr lang="ru-RU" b="1" dirty="0">
                <a:effectLst/>
              </a:rPr>
              <a:t>1 </a:t>
            </a:r>
            <a:r>
              <a:rPr lang="ru-RU" b="1" dirty="0" smtClean="0">
                <a:effectLst/>
              </a:rPr>
              <a:t>января</a:t>
            </a:r>
            <a:endParaRPr lang="ru-RU" dirty="0">
              <a:effectLst/>
            </a:endParaRPr>
          </a:p>
          <a:p>
            <a:r>
              <a:rPr lang="ru-RU" b="1" dirty="0" smtClean="0">
                <a:effectLst/>
              </a:rPr>
              <a:t>Был основан </a:t>
            </a:r>
            <a:r>
              <a:rPr lang="ru-RU" b="1" dirty="0">
                <a:effectLst/>
              </a:rPr>
              <a:t>Санкт-Петербург </a:t>
            </a:r>
            <a:r>
              <a:rPr lang="ru-RU" b="1" dirty="0" smtClean="0">
                <a:effectLst/>
              </a:rPr>
              <a:t>в</a:t>
            </a:r>
            <a:r>
              <a:rPr lang="ru-RU" dirty="0" smtClean="0">
                <a:effectLst/>
              </a:rPr>
              <a:t> </a:t>
            </a:r>
            <a:r>
              <a:rPr lang="ru-RU" dirty="0">
                <a:effectLst/>
              </a:rPr>
              <a:t>1703 </a:t>
            </a:r>
            <a:r>
              <a:rPr lang="ru-RU" dirty="0" smtClean="0">
                <a:effectLst/>
              </a:rPr>
              <a:t>году</a:t>
            </a:r>
          </a:p>
          <a:p>
            <a:r>
              <a:rPr lang="ru-RU" dirty="0">
                <a:effectLst/>
              </a:rPr>
              <a:t>С</a:t>
            </a:r>
            <a:r>
              <a:rPr lang="ru-RU" dirty="0" smtClean="0">
                <a:effectLst/>
              </a:rPr>
              <a:t>формировался </a:t>
            </a:r>
            <a:r>
              <a:rPr lang="ru-RU" dirty="0">
                <a:effectLst/>
              </a:rPr>
              <a:t>новый архитектурный стиль «петровское барокко» </a:t>
            </a:r>
            <a:endParaRPr lang="ru-RU" dirty="0" smtClean="0">
              <a:effectLst/>
            </a:endParaRPr>
          </a:p>
          <a:p>
            <a:r>
              <a:rPr lang="ru-RU" dirty="0" smtClean="0">
                <a:effectLst/>
              </a:rPr>
              <a:t>открылся </a:t>
            </a:r>
            <a:r>
              <a:rPr lang="ru-RU" dirty="0">
                <a:effectLst/>
              </a:rPr>
              <a:t>первый музей в стране - </a:t>
            </a:r>
            <a:r>
              <a:rPr lang="ru-RU" dirty="0" smtClean="0">
                <a:effectLst/>
              </a:rPr>
              <a:t>Кунсткамера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В</a:t>
            </a:r>
            <a:r>
              <a:rPr lang="ru-RU" dirty="0" smtClean="0">
                <a:effectLst/>
              </a:rPr>
              <a:t>ышел </a:t>
            </a:r>
            <a:r>
              <a:rPr lang="ru-RU" dirty="0">
                <a:effectLst/>
              </a:rPr>
              <a:t>указ об основании Академии наук.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41413" y="5144869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«Празднование Нового года при Петре </a:t>
            </a:r>
            <a:r>
              <a:rPr lang="en-US" dirty="0" smtClean="0"/>
              <a:t>I</a:t>
            </a:r>
            <a:r>
              <a:rPr lang="ru-RU" dirty="0" smtClean="0"/>
              <a:t>»</a:t>
            </a:r>
          </a:p>
          <a:p>
            <a:pPr algn="ctr"/>
            <a:r>
              <a:rPr lang="ru-RU" dirty="0" smtClean="0"/>
              <a:t>А. </a:t>
            </a:r>
            <a:r>
              <a:rPr lang="ru-RU" dirty="0" err="1" smtClean="0"/>
              <a:t>Шанин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745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Сетка</Template>
  <TotalTime>157</TotalTime>
  <Words>238</Words>
  <Application>Microsoft Office PowerPoint</Application>
  <PresentationFormat>Широкоэкранный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Сетка</vt:lpstr>
      <vt:lpstr>Преобразования Петра Первого</vt:lpstr>
      <vt:lpstr>Реформы армии и флота</vt:lpstr>
      <vt:lpstr>Установление крепостного права</vt:lpstr>
      <vt:lpstr>Реформы государственного управления</vt:lpstr>
      <vt:lpstr>Преобразования в промышленности</vt:lpstr>
      <vt:lpstr>Установление абсолютной монархии</vt:lpstr>
      <vt:lpstr>Реформы образования</vt:lpstr>
      <vt:lpstr>Культура петровской эпохи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Преобразования Петра Первого</dc:title>
  <dc:creator>Учетная запись Майкрософт</dc:creator>
  <cp:lastModifiedBy>Учетная запись Майкрософт</cp:lastModifiedBy>
  <cp:revision>31</cp:revision>
  <dcterms:created xsi:type="dcterms:W3CDTF">2024-07-22T04:32:08Z</dcterms:created>
  <dcterms:modified xsi:type="dcterms:W3CDTF">2024-07-30T03:12:42Z</dcterms:modified>
</cp:coreProperties>
</file>